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5474"/>
  </p:normalViewPr>
  <p:slideViewPr>
    <p:cSldViewPr snapToGrid="0" snapToObjects="1">
      <p:cViewPr varScale="1">
        <p:scale>
          <a:sx n="154" d="100"/>
          <a:sy n="154" d="100"/>
        </p:scale>
        <p:origin x="4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98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  We're presenting our end-to-end ML pipeline for predicting 30-day hospital readmission risk in diabetic patients.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team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"Hospital readmissions within 30 days cost the U.S. healthcare system over $26 billion every year. That's not just a financial burden—CMS penalizes hospitals with excess readmission rates, and more importantly, each avoidable readmission disrupts patient recovery.</a:t>
            </a:r>
          </a:p>
          <a:p>
            <a:endParaRPr lang="en-CA" dirty="0"/>
          </a:p>
          <a:p>
            <a:r>
              <a:rPr lang="en-CA" dirty="0"/>
              <a:t>The challenge is resource allocation. Transition-of-care nurses, social workers, and follow-up scheduling capacity are all finite. Hospitals can't call every discharged patient—they need a principled way to decide </a:t>
            </a:r>
            <a:r>
              <a:rPr lang="en-CA" i="1" dirty="0"/>
              <a:t>who</a:t>
            </a:r>
            <a:r>
              <a:rPr lang="en-CA" dirty="0"/>
              <a:t> to prioritize.</a:t>
            </a:r>
          </a:p>
          <a:p>
            <a:endParaRPr lang="en-CA" dirty="0"/>
          </a:p>
          <a:p>
            <a:r>
              <a:rPr lang="en-CA" b="1" dirty="0"/>
              <a:t>Our business goal</a:t>
            </a:r>
            <a:r>
              <a:rPr lang="en-CA" dirty="0"/>
              <a:t> is simple: reduce avoidable readmissions by enabling risk-stratified follow-up.</a:t>
            </a:r>
          </a:p>
          <a:p>
            <a:endParaRPr lang="en-CA" dirty="0"/>
          </a:p>
          <a:p>
            <a:r>
              <a:rPr lang="en-CA" b="1" dirty="0"/>
              <a:t>Our data science goal</a:t>
            </a:r>
            <a:r>
              <a:rPr lang="en-CA" dirty="0"/>
              <a:t> is to build a proof-of-value pipeline that predicts readmission risk with measurable lift over heuristic baselines, and produces outputs that are actionable, explainable, and audited for fairness.</a:t>
            </a:r>
          </a:p>
          <a:p>
            <a:endParaRPr lang="en-CA" b="1" dirty="0"/>
          </a:p>
          <a:p>
            <a:r>
              <a:rPr lang="en-CA" b="1" dirty="0"/>
              <a:t>Our hypothesis:</a:t>
            </a:r>
            <a:r>
              <a:rPr lang="en-CA" dirty="0"/>
              <a:t> Using routinely available encounter-level data—demographics, utilization history, clinical proxies—we can beat simple heuristics like 'high prior utilization equals high risk,' while maintaining interpretability suitable for clinical adoption."</a:t>
            </a:r>
          </a:p>
          <a:p>
            <a:endParaRPr lang="en-CA" dirty="0"/>
          </a:p>
          <a:p>
            <a:r>
              <a:rPr lang="en-CA" dirty="0"/>
              <a:t>”Mustafa will show you the data we worked with..."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We used the UCI Diabetes 130-US Hospitals dataset: 101,000 encounters, 50+ features, 130 hospitals, 10 years of data.</a:t>
            </a:r>
          </a:p>
          <a:p>
            <a:r>
              <a:rPr lang="en-US" dirty="0"/>
              <a:t>Target: binary—readmitted within 30 days or not. After removing leakage cases like deaths, we have 99,340 rows with 11% positive rate.</a:t>
            </a:r>
          </a:p>
          <a:p>
            <a:r>
              <a:rPr lang="en-US" dirty="0"/>
              <a:t>This severe imbalance means PR-AUC is our primary metric—accuracy would be meaningless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Our pipeline maps to course modules:</a:t>
            </a:r>
          </a:p>
          <a:p>
            <a:r>
              <a:rPr lang="en-US" dirty="0"/>
              <a:t>Module II: Data cleaning, leakage prevention, GroupShuffleSplit for zero patient overlap.</a:t>
            </a:r>
          </a:p>
          <a:p>
            <a:r>
              <a:rPr lang="en-US" dirty="0"/>
              <a:t>Module III: ICD-9 grouping from 500+ codes to 18 categories, medication aggregation, mutual information scoring, PCA.</a:t>
            </a:r>
          </a:p>
          <a:p>
            <a:r>
              <a:rPr lang="en-US" dirty="0"/>
              <a:t>Module IV: Five SOTA models—Logistic Regression, Random Forest, XGBoost, LightGBM, and Stacking.</a:t>
            </a:r>
          </a:p>
          <a:p>
            <a:r>
              <a:rPr lang="en-US" dirty="0"/>
              <a:t>Finally: calibration, SHAP explainability, and fairness auditing.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Feature engineering highlights:</a:t>
            </a:r>
          </a:p>
          <a:p>
            <a:r>
              <a:rPr lang="en-US" dirty="0"/>
              <a:t>ICD-9 Grouping: 500+ codes mapped to 18 clinical categories—preserving meaning, reducing dimensionality.</a:t>
            </a:r>
          </a:p>
          <a:p>
            <a:r>
              <a:rPr lang="en-US" dirty="0"/>
              <a:t>Medication Aggregation: 23 columns condensed to change counts and insulin indicators.</a:t>
            </a:r>
          </a:p>
          <a:p>
            <a:r>
              <a:rPr lang="en-US" dirty="0"/>
              <a:t>Derived Features: total_visits, high_utilizer, many_meds flags.</a:t>
            </a:r>
          </a:p>
          <a:p>
            <a:r>
              <a:rPr lang="en-US" dirty="0"/>
              <a:t>Feature Selection: correlation filtering, mutual information ranking, PCA visualization confirmed no clean class separation.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modelling approach we trained Five candidate models, each serving a different purpose:</a:t>
            </a:r>
          </a:p>
          <a:p>
            <a:endParaRPr lang="en-US" dirty="0"/>
          </a:p>
          <a:p>
            <a:r>
              <a:rPr lang="en-US" dirty="0"/>
              <a:t>Logistic Regression—interpretable baseline. </a:t>
            </a:r>
          </a:p>
          <a:p>
            <a:endParaRPr lang="en-US" dirty="0"/>
          </a:p>
          <a:p>
            <a:r>
              <a:rPr lang="en-US" dirty="0"/>
              <a:t>Random Forest—nonlinear robustness. </a:t>
            </a:r>
          </a:p>
          <a:p>
            <a:endParaRPr lang="en-US" dirty="0"/>
          </a:p>
          <a:p>
            <a:r>
              <a:rPr lang="en-US" dirty="0" err="1"/>
              <a:t>XGBoost</a:t>
            </a:r>
            <a:r>
              <a:rPr lang="en-US" dirty="0"/>
              <a:t> and LightGBM—SOTA gradient boosting.</a:t>
            </a:r>
          </a:p>
          <a:p>
            <a:endParaRPr lang="en-US" dirty="0"/>
          </a:p>
          <a:p>
            <a:r>
              <a:rPr lang="en-US" dirty="0"/>
              <a:t>Stacking for multi-model combination.</a:t>
            </a:r>
          </a:p>
          <a:p>
            <a:endParaRPr lang="en-US" dirty="0"/>
          </a:p>
          <a:p>
            <a:r>
              <a:rPr lang="en-US" dirty="0"/>
              <a:t>And then our Selection criteria is PR-AUC, top-K recall, calibration, fold stability, SHAP compatibility, and maintainability.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used </a:t>
            </a:r>
            <a:r>
              <a:rPr lang="en-CA" dirty="0" err="1"/>
              <a:t>StratifiedGroupKFold</a:t>
            </a:r>
            <a:r>
              <a:rPr lang="en-CA" dirty="0"/>
              <a:t> cross-validation to prevent patient leakage between folds—the same patient never appears in both training and validation within a fold.</a:t>
            </a:r>
          </a:p>
          <a:p>
            <a:endParaRPr lang="en-CA" dirty="0"/>
          </a:p>
          <a:p>
            <a:r>
              <a:rPr lang="en-CA" dirty="0"/>
              <a:t>Looking at PR-AUC, our primary metric, </a:t>
            </a:r>
            <a:r>
              <a:rPr lang="en-CA" b="1" dirty="0" err="1"/>
              <a:t>LightGBM</a:t>
            </a:r>
            <a:r>
              <a:rPr lang="en-CA" b="1" dirty="0"/>
              <a:t> leads at 0.2255</a:t>
            </a:r>
            <a:r>
              <a:rPr lang="en-CA" dirty="0"/>
              <a:t> with low variance across folds. ROC-AUC tells the same story which is </a:t>
            </a:r>
            <a:r>
              <a:rPr lang="en-CA" dirty="0" err="1"/>
              <a:t>LightGBM</a:t>
            </a:r>
            <a:r>
              <a:rPr lang="en-CA" dirty="0"/>
              <a:t> at 0.6643.</a:t>
            </a:r>
          </a:p>
          <a:p>
            <a:endParaRPr lang="en-CA" dirty="0"/>
          </a:p>
          <a:p>
            <a:r>
              <a:rPr lang="en-CA" dirty="0" err="1"/>
              <a:t>XGBoost</a:t>
            </a:r>
            <a:r>
              <a:rPr lang="en-CA" dirty="0"/>
              <a:t> shows the best Brier score at 0.1946, indicating strong probability calibration. However, since we apply post-hoc calibration anyway, PR-AUC discrimination matters more for model selection.</a:t>
            </a:r>
          </a:p>
          <a:p>
            <a:endParaRPr lang="en-CA" dirty="0"/>
          </a:p>
          <a:p>
            <a:r>
              <a:rPr lang="en-CA" dirty="0"/>
              <a:t>The tight confidence intervals—plus-or-minus 0.01 to 0.015—indicate stable performance across different patient cohorts."</a:t>
            </a:r>
          </a:p>
          <a:p>
            <a:endParaRPr lang="en-CA" dirty="0"/>
          </a:p>
          <a:p>
            <a:r>
              <a:rPr lang="en-CA" dirty="0"/>
              <a:t>"Let's see how these translate to held-out test performance..."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table shows final performance on the held-out test set—patients never seen during training or cross-validation.</a:t>
            </a:r>
          </a:p>
          <a:p>
            <a:endParaRPr lang="en-CA" dirty="0"/>
          </a:p>
          <a:p>
            <a:r>
              <a:rPr lang="en-CA" b="1" dirty="0"/>
              <a:t>Key comparisons:</a:t>
            </a:r>
            <a:r>
              <a:rPr lang="en-CA" dirty="0"/>
              <a:t> Our heuristic baseline—ranking by prior visit counts—achieves 0.182 PR-AUC and 2.2× lift. All ML models beat this substantially.</a:t>
            </a:r>
          </a:p>
          <a:p>
            <a:endParaRPr lang="en-CA" dirty="0"/>
          </a:p>
          <a:p>
            <a:r>
              <a:rPr lang="en-CA" b="1" dirty="0" err="1"/>
              <a:t>LightGBM</a:t>
            </a:r>
            <a:r>
              <a:rPr lang="en-CA" b="1" dirty="0"/>
              <a:t> wins on PR-AUC at 0.237</a:t>
            </a:r>
            <a:r>
              <a:rPr lang="en-CA" dirty="0"/>
              <a:t>, with 26% recall at the top 10% threshold—meaning by contacting just 10% of discharged patients, we capture 26% of all eventual readmissions. That's a </a:t>
            </a:r>
            <a:r>
              <a:rPr lang="en-CA" b="1" dirty="0"/>
              <a:t>2.6× lift</a:t>
            </a:r>
            <a:r>
              <a:rPr lang="en-CA" dirty="0"/>
              <a:t> over random selection.</a:t>
            </a:r>
          </a:p>
          <a:p>
            <a:endParaRPr lang="en-CA" dirty="0"/>
          </a:p>
          <a:p>
            <a:r>
              <a:rPr lang="en-CA" dirty="0"/>
              <a:t>Stacking achieves the highest ROC-AUC at 0.680 and best Brier score, but </a:t>
            </a:r>
            <a:r>
              <a:rPr lang="en-CA" dirty="0" err="1"/>
              <a:t>LightGBM's</a:t>
            </a:r>
            <a:r>
              <a:rPr lang="en-CA" dirty="0"/>
              <a:t> PR-AUC advantage makes it our choice. Under severe class imbalance, PR-AUC directly measures our ability to identify the minority class that matters.</a:t>
            </a:r>
          </a:p>
          <a:p>
            <a:endParaRPr lang="en-CA" dirty="0"/>
          </a:p>
          <a:p>
            <a:r>
              <a:rPr lang="en-CA" dirty="0"/>
              <a:t>Additionally, </a:t>
            </a:r>
            <a:r>
              <a:rPr lang="en-CA" dirty="0" err="1"/>
              <a:t>LightGBM</a:t>
            </a:r>
            <a:r>
              <a:rPr lang="en-CA" dirty="0"/>
              <a:t> is simpler than Stacking—a single model is easier to deploy, monitor, and maintain in production. It's also SHAP-compatible for efficient </a:t>
            </a:r>
            <a:r>
              <a:rPr lang="en-CA" dirty="0" err="1"/>
              <a:t>TreeExplainer</a:t>
            </a:r>
            <a:r>
              <a:rPr lang="en-CA" dirty="0"/>
              <a:t> explanations.</a:t>
            </a:r>
          </a:p>
          <a:p>
            <a:endParaRPr lang="en-CA" dirty="0"/>
          </a:p>
          <a:p>
            <a:r>
              <a:rPr lang="en-CA" b="1" dirty="0"/>
              <a:t>The star next to </a:t>
            </a:r>
            <a:r>
              <a:rPr lang="en-CA" b="1" dirty="0" err="1"/>
              <a:t>LightGBM</a:t>
            </a:r>
            <a:r>
              <a:rPr lang="en-CA" b="1" dirty="0"/>
              <a:t> indicates our winning model.</a:t>
            </a:r>
            <a:r>
              <a:rPr lang="en-CA" dirty="0"/>
              <a:t>"</a:t>
            </a:r>
          </a:p>
          <a:p>
            <a:endParaRPr lang="en-CA" dirty="0"/>
          </a:p>
          <a:p>
            <a:r>
              <a:rPr lang="en-CA" dirty="0"/>
              <a:t>"Let's visualize these metrics..."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curves visualize our results. </a:t>
            </a:r>
          </a:p>
          <a:p>
            <a:endParaRPr lang="en-US" dirty="0"/>
          </a:p>
          <a:p>
            <a:r>
              <a:rPr lang="en-US" dirty="0"/>
              <a:t>ROC shows LightGBM above other models. PR curve—more important under imbalance—shows meaningful lift above the 11% baseline. </a:t>
            </a:r>
          </a:p>
          <a:p>
            <a:endParaRPr lang="en-US" dirty="0"/>
          </a:p>
          <a:p>
            <a:r>
              <a:rPr lang="en-US" dirty="0" err="1"/>
              <a:t>LightGBM</a:t>
            </a:r>
            <a:r>
              <a:rPr lang="en-US" dirty="0"/>
              <a:t> dominates at higher recall values.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Calibration makes scores actionable. Before isotonic calibration: Brier 0.213, reliability curve deviates from diagonal. After: Brier drops to 0.092—57% improvement. Now a 20% score means roughly 1-in-5 actually get readmitted.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SHAP provides explainability—essential for clinical trust.</a:t>
            </a:r>
          </a:p>
          <a:p>
            <a:r>
              <a:rPr lang="en-US" dirty="0"/>
              <a:t>Beeswarm plot shows global feature importance. Bar chart summarizes mean SHAP values.</a:t>
            </a:r>
          </a:p>
          <a:p>
            <a:r>
              <a:rPr lang="en-US" dirty="0"/>
              <a:t>Top drivers: number_inpatient, discharge_disposition, number_diagnoses, total_visits.</a:t>
            </a:r>
          </a:p>
          <a:p>
            <a:r>
              <a:rPr lang="en-US" dirty="0"/>
              <a:t>These align with clinical intuition: sicker patients with complex pathways and prior admissions are higher risk.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Per-patient waterfall plots show WHY each patient was flagged.</a:t>
            </a:r>
          </a:p>
          <a:p>
            <a:r>
              <a:rPr lang="en-US" dirty="0"/>
              <a:t>High-risk patient: driven by prior inpatient visits and complex discharge. Medium-risk: mixed contributions balancing out. Low-risk: protective factors like fewer admissions.</a:t>
            </a:r>
          </a:p>
          <a:p>
            <a:r>
              <a:rPr lang="en-US" dirty="0"/>
              <a:t>These explanations attach to care workflows—nurses see the reasoning, not just a score.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Fairness audit across racial subgroups.</a:t>
            </a:r>
          </a:p>
          <a:p>
            <a:r>
              <a:rPr lang="en-US" dirty="0"/>
              <a:t>Caucasian: 0.671 ROC-AUC. Hispanic: 0.755. Asian, Other, Unknown range 0.644-0.680.</a:t>
            </a:r>
          </a:p>
          <a:p>
            <a:r>
              <a:rPr lang="en-US" dirty="0"/>
              <a:t>Maximum gap from population average: -0.029—within acceptable bounds. No significant disparities detected. Caveat: smaller subgroups warrant continued monitoring.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Three operational outputs:</a:t>
            </a:r>
          </a:p>
          <a:p>
            <a:r>
              <a:rPr lang="en-US" dirty="0"/>
              <a:t>Risk Probability: 0-1 calibrated score per patient. Risk Tiers: Low/Medium/High based on percentiles. Top-K Outreach List: prioritized CSV with SHAP explanations.</a:t>
            </a:r>
          </a:p>
          <a:p>
            <a:r>
              <a:rPr lang="en-US" dirty="0"/>
              <a:t>Key result: contacting top 10% captures 26% of readmissions—2.6x lift. Dramatically better resource allocation.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confusion matrix shows what happens operationally when we flag the top 10% highest-risk patients.</a:t>
            </a:r>
          </a:p>
          <a:p>
            <a:r>
              <a:rPr lang="en-CA" dirty="0"/>
              <a:t>Of patients flagged as high-risk, nearly </a:t>
            </a:r>
            <a:r>
              <a:rPr lang="en-CA" b="1" dirty="0"/>
              <a:t>30% precision</a:t>
            </a:r>
            <a:r>
              <a:rPr lang="en-CA" dirty="0"/>
              <a:t>—almost 1 in 3—are true readmissions. That's far better than the 11% base rate.</a:t>
            </a:r>
          </a:p>
          <a:p>
            <a:r>
              <a:rPr lang="en-CA" dirty="0"/>
              <a:t>We achieve </a:t>
            </a:r>
            <a:r>
              <a:rPr lang="en-CA" b="1" dirty="0"/>
              <a:t>26% recall</a:t>
            </a:r>
            <a:r>
              <a:rPr lang="en-CA" dirty="0"/>
              <a:t> on readmissions—capturing a quarter of all eventual readmissions by contacting just 10% of discharges.</a:t>
            </a:r>
          </a:p>
          <a:p>
            <a:r>
              <a:rPr lang="en-CA" dirty="0"/>
              <a:t>Overall accuracy is 85%, but remember—accuracy isn't our goal under this imbalance. What matters is that our targeted outreach reaches patients who actually need it, not that we correctly classify the majority who wouldn't be readmitted anyway."</a:t>
            </a:r>
          </a:p>
          <a:p>
            <a:r>
              <a:rPr lang="en-CA" b="1" dirty="0"/>
              <a:t>Transition:</a:t>
            </a:r>
            <a:r>
              <a:rPr lang="en-CA" dirty="0"/>
              <a:t> "Let me summarize our key findings..."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"Five key takeaways from our project:</a:t>
            </a:r>
          </a:p>
          <a:p>
            <a:r>
              <a:rPr lang="en-CA" b="1" dirty="0"/>
              <a:t>One:</a:t>
            </a:r>
            <a:r>
              <a:rPr lang="en-CA" dirty="0"/>
              <a:t> </a:t>
            </a:r>
            <a:r>
              <a:rPr lang="en-CA" dirty="0" err="1"/>
              <a:t>LightGBM</a:t>
            </a:r>
            <a:r>
              <a:rPr lang="en-CA" dirty="0"/>
              <a:t> is our winning model—best PR-AUC at 0.237 with 2.6× operational lift at top 10%.</a:t>
            </a:r>
          </a:p>
          <a:p>
            <a:r>
              <a:rPr lang="en-CA" b="1" dirty="0"/>
              <a:t>Two:</a:t>
            </a:r>
            <a:r>
              <a:rPr lang="en-CA" dirty="0"/>
              <a:t> Isotonic calibration reduced Brier score from 0.213 to 0.092—risk scores are now actionable probabilities, not just rankings.</a:t>
            </a:r>
          </a:p>
          <a:p>
            <a:r>
              <a:rPr lang="en-CA" b="1" dirty="0"/>
              <a:t>Three:</a:t>
            </a:r>
            <a:r>
              <a:rPr lang="en-CA" dirty="0"/>
              <a:t> SHAP provides both global insights and per-patient explanations—clinicians can see </a:t>
            </a:r>
            <a:r>
              <a:rPr lang="en-CA" i="1" dirty="0"/>
              <a:t>why</a:t>
            </a:r>
            <a:r>
              <a:rPr lang="en-CA" dirty="0"/>
              <a:t> each patient was flagged, enabling trusted adoption.</a:t>
            </a:r>
          </a:p>
          <a:p>
            <a:r>
              <a:rPr lang="en-CA" b="1" dirty="0"/>
              <a:t>Four:</a:t>
            </a:r>
            <a:r>
              <a:rPr lang="en-CA" dirty="0"/>
              <a:t> Our fairness audit shows no significant subgroup disparities—maximum ROC-AUC gap of -0.03. The model performs consistently across racial groups.</a:t>
            </a:r>
          </a:p>
          <a:p>
            <a:r>
              <a:rPr lang="en-CA" b="1" dirty="0"/>
              <a:t>Five:</a:t>
            </a:r>
            <a:r>
              <a:rPr lang="en-CA" dirty="0"/>
              <a:t> Patient-level grouped splitting prevented data leakage throughout—our results reflect realistic deployment performance on truly unseen patients.</a:t>
            </a:r>
          </a:p>
          <a:p>
            <a:r>
              <a:rPr lang="en-CA" dirty="0"/>
              <a:t>This pipeline demonstrates the complete enterprise data science lifecycle, from raw data through deployable, explainable, fair risk scores."</a:t>
            </a:r>
          </a:p>
          <a:p>
            <a:r>
              <a:rPr lang="en-CA" b="1" dirty="0"/>
              <a:t>Transition:</a:t>
            </a:r>
            <a:r>
              <a:rPr lang="en-CA" dirty="0"/>
              <a:t> "Of course, there are limitations..."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acknowledge several limitations:</a:t>
            </a:r>
          </a:p>
          <a:p>
            <a:r>
              <a:rPr lang="en-US" dirty="0"/>
              <a:t>The dataset spans 1999-2008 since then clinical practices have significantly evolved. And performance on contemporary data may differ.</a:t>
            </a:r>
          </a:p>
          <a:p>
            <a:r>
              <a:rPr lang="en-US" dirty="0"/>
              <a:t>Also, with only 11% positive rate, absolute precision at any threshold is bounded, we can prioritize well, but can't eliminate all false positives.</a:t>
            </a:r>
          </a:p>
          <a:p>
            <a:r>
              <a:rPr lang="en-US" dirty="0"/>
              <a:t>Missing data like weight has 97% missing values and payer code has 40% which means potential signals were lost.</a:t>
            </a:r>
          </a:p>
          <a:p>
            <a:r>
              <a:rPr lang="en-US" dirty="0"/>
              <a:t>On top of that we also lack external validation on a separate hospital system.</a:t>
            </a:r>
          </a:p>
          <a:p>
            <a:r>
              <a:rPr lang="en-US" dirty="0"/>
              <a:t>Our Next steps would include:</a:t>
            </a:r>
          </a:p>
          <a:p>
            <a:r>
              <a:rPr lang="en-US" dirty="0"/>
              <a:t>Hyperparameter tuning via Bayesian optimization—we used informed defaults but didn't exhaustively search.</a:t>
            </a:r>
          </a:p>
          <a:p>
            <a:r>
              <a:rPr lang="en-US" dirty="0"/>
              <a:t>Then we’d use external validation on different hospital populations.</a:t>
            </a:r>
          </a:p>
          <a:p>
            <a:endParaRPr lang="en-US" dirty="0"/>
          </a:p>
          <a:p>
            <a:r>
              <a:rPr lang="en-US" dirty="0"/>
              <a:t>Another next step is A/B testing integration with actual EHR workflows to measure real-world impact.</a:t>
            </a:r>
          </a:p>
          <a:p>
            <a:endParaRPr lang="en-US" dirty="0"/>
          </a:p>
          <a:p>
            <a:r>
              <a:rPr lang="en-US" dirty="0"/>
              <a:t>And production monitoring for model drift over time."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Thank you. Code and notebooks on GitHub. Happy to take questions on any aspect—feature engineering, model selection, or fairness considerations.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2B"/>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133D3D"/>
          </a:solidFill>
          <a:ln/>
        </p:spPr>
        <p:txBody>
          <a:bodyPr/>
          <a:lstStyle/>
          <a:p>
            <a:endParaRPr lang="en-US"/>
          </a:p>
        </p:txBody>
      </p:sp>
      <p:sp>
        <p:nvSpPr>
          <p:cNvPr id="3" name="Shape 1"/>
          <p:cNvSpPr/>
          <p:nvPr/>
        </p:nvSpPr>
        <p:spPr>
          <a:xfrm>
            <a:off x="7772400" y="-457200"/>
            <a:ext cx="3200400" cy="3200400"/>
          </a:xfrm>
          <a:prstGeom prst="ellipse">
            <a:avLst/>
          </a:prstGeom>
          <a:solidFill>
            <a:srgbClr val="1A4A4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640080" y="457200"/>
            <a:ext cx="640080" cy="640080"/>
          </a:xfrm>
          <a:prstGeom prst="rect">
            <a:avLst/>
          </a:prstGeom>
        </p:spPr>
      </p:pic>
      <p:sp>
        <p:nvSpPr>
          <p:cNvPr id="5" name="Text 2"/>
          <p:cNvSpPr/>
          <p:nvPr/>
        </p:nvSpPr>
        <p:spPr>
          <a:xfrm>
            <a:off x="640080" y="1371600"/>
            <a:ext cx="6400800" cy="201168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Readmission Risk</a:t>
            </a:r>
            <a:endParaRPr lang="en-US" sz="4400" dirty="0"/>
          </a:p>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Prediction</a:t>
            </a:r>
            <a:endParaRPr lang="en-US" sz="4400" dirty="0"/>
          </a:p>
        </p:txBody>
      </p:sp>
      <p:sp>
        <p:nvSpPr>
          <p:cNvPr id="6" name="Text 3"/>
          <p:cNvSpPr/>
          <p:nvPr/>
        </p:nvSpPr>
        <p:spPr>
          <a:xfrm>
            <a:off x="640080" y="3383280"/>
            <a:ext cx="6400800" cy="457200"/>
          </a:xfrm>
          <a:prstGeom prst="rect">
            <a:avLst/>
          </a:prstGeom>
          <a:noFill/>
          <a:ln/>
        </p:spPr>
        <p:txBody>
          <a:bodyPr wrap="square" lIns="0" tIns="0" rIns="0" bIns="0" rtlCol="0" anchor="ctr"/>
          <a:lstStyle/>
          <a:p>
            <a:pPr marL="0" indent="0">
              <a:buNone/>
            </a:pPr>
            <a:r>
              <a:rPr lang="en-US" sz="1600" dirty="0">
                <a:solidFill>
                  <a:srgbClr val="00B4A6"/>
                </a:solidFill>
                <a:latin typeface="Calibri" pitchFamily="34" charset="0"/>
                <a:ea typeface="Calibri" pitchFamily="34" charset="-122"/>
                <a:cs typeface="Calibri" pitchFamily="34" charset="-120"/>
              </a:rPr>
              <a:t>Predicting 30-Day Hospital Readmission for Diabetic Patients</a:t>
            </a:r>
            <a:endParaRPr lang="en-US" sz="1600" dirty="0"/>
          </a:p>
        </p:txBody>
      </p:sp>
      <p:sp>
        <p:nvSpPr>
          <p:cNvPr id="7" name="Shape 4"/>
          <p:cNvSpPr/>
          <p:nvPr/>
        </p:nvSpPr>
        <p:spPr>
          <a:xfrm>
            <a:off x="0" y="4572000"/>
            <a:ext cx="9144000" cy="571500"/>
          </a:xfrm>
          <a:prstGeom prst="rect">
            <a:avLst/>
          </a:prstGeom>
          <a:solidFill>
            <a:srgbClr val="00B4A6"/>
          </a:solidFill>
          <a:ln/>
        </p:spPr>
        <p:txBody>
          <a:bodyPr/>
          <a:lstStyle/>
          <a:p>
            <a:endParaRPr lang="en-US"/>
          </a:p>
        </p:txBody>
      </p:sp>
      <p:sp>
        <p:nvSpPr>
          <p:cNvPr id="8" name="Text 5"/>
          <p:cNvSpPr/>
          <p:nvPr/>
        </p:nvSpPr>
        <p:spPr>
          <a:xfrm>
            <a:off x="640080" y="4617720"/>
            <a:ext cx="4572000" cy="502920"/>
          </a:xfrm>
          <a:prstGeom prst="rect">
            <a:avLst/>
          </a:prstGeom>
          <a:noFill/>
          <a:ln/>
        </p:spPr>
        <p:txBody>
          <a:bodyPr wrap="square" rtlCol="0" anchor="ctr"/>
          <a:lstStyle/>
          <a:p>
            <a:pPr marL="0" indent="0">
              <a:buNone/>
            </a:pPr>
            <a:r>
              <a:rPr lang="en-US" sz="1100" dirty="0">
                <a:solidFill>
                  <a:srgbClr val="0D2B2B"/>
                </a:solidFill>
                <a:latin typeface="Calibri" pitchFamily="34" charset="0"/>
                <a:ea typeface="Calibri" pitchFamily="34" charset="-122"/>
                <a:cs typeface="Calibri" pitchFamily="34" charset="-120"/>
              </a:rPr>
              <a:t>INSY 674 · Enterprise Data Science · Group Project</a:t>
            </a:r>
            <a:endParaRPr lang="en-US" sz="1100"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B2B"/>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Our Team</a:t>
            </a:r>
            <a:endParaRPr lang="en-US" sz="3600" dirty="0"/>
          </a:p>
        </p:txBody>
      </p:sp>
      <p:sp>
        <p:nvSpPr>
          <p:cNvPr id="3" name="Shape 1"/>
          <p:cNvSpPr/>
          <p:nvPr/>
        </p:nvSpPr>
        <p:spPr>
          <a:xfrm>
            <a:off x="914400" y="1645920"/>
            <a:ext cx="1280160" cy="1280160"/>
          </a:xfrm>
          <a:prstGeom prst="ellipse">
            <a:avLst/>
          </a:prstGeom>
          <a:solidFill>
            <a:srgbClr val="133D3D"/>
          </a:solidFill>
          <a:ln w="25400">
            <a:solidFill>
              <a:srgbClr val="00B4A6"/>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1234440" y="1965960"/>
            <a:ext cx="640080" cy="640080"/>
          </a:xfrm>
          <a:prstGeom prst="rect">
            <a:avLst/>
          </a:prstGeom>
        </p:spPr>
      </p:pic>
      <p:sp>
        <p:nvSpPr>
          <p:cNvPr id="5" name="Text 2"/>
          <p:cNvSpPr/>
          <p:nvPr/>
        </p:nvSpPr>
        <p:spPr>
          <a:xfrm>
            <a:off x="640080" y="3108960"/>
            <a:ext cx="18288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Feroz Khan</a:t>
            </a:r>
            <a:endParaRPr lang="en-US" sz="1400" dirty="0"/>
          </a:p>
        </p:txBody>
      </p:sp>
      <p:sp>
        <p:nvSpPr>
          <p:cNvPr id="6" name="Shape 3"/>
          <p:cNvSpPr/>
          <p:nvPr/>
        </p:nvSpPr>
        <p:spPr>
          <a:xfrm>
            <a:off x="3063240" y="1645920"/>
            <a:ext cx="1280160" cy="1280160"/>
          </a:xfrm>
          <a:prstGeom prst="ellipse">
            <a:avLst/>
          </a:prstGeom>
          <a:solidFill>
            <a:srgbClr val="133D3D"/>
          </a:solidFill>
          <a:ln w="25400">
            <a:solidFill>
              <a:srgbClr val="00B4A6"/>
            </a:solidFill>
            <a:prstDash val="solid"/>
          </a:ln>
        </p:spPr>
        <p:txBody>
          <a:bodyPr/>
          <a:lstStyle/>
          <a:p>
            <a:endParaRPr lang="en-US"/>
          </a:p>
        </p:txBody>
      </p:sp>
      <p:pic>
        <p:nvPicPr>
          <p:cNvPr id="7" name="Image 1" descr="preencoded.png"/>
          <p:cNvPicPr>
            <a:picLocks noChangeAspect="1"/>
          </p:cNvPicPr>
          <p:nvPr/>
        </p:nvPicPr>
        <p:blipFill>
          <a:blip r:embed="rId3"/>
          <a:stretch>
            <a:fillRect/>
          </a:stretch>
        </p:blipFill>
        <p:spPr>
          <a:xfrm>
            <a:off x="3383280" y="1965960"/>
            <a:ext cx="640080" cy="640080"/>
          </a:xfrm>
          <a:prstGeom prst="rect">
            <a:avLst/>
          </a:prstGeom>
        </p:spPr>
      </p:pic>
      <p:sp>
        <p:nvSpPr>
          <p:cNvPr id="8" name="Text 4"/>
          <p:cNvSpPr/>
          <p:nvPr/>
        </p:nvSpPr>
        <p:spPr>
          <a:xfrm>
            <a:off x="2788920" y="3108960"/>
            <a:ext cx="18288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Matthieu Lafont</a:t>
            </a:r>
            <a:endParaRPr lang="en-US" sz="1400" dirty="0"/>
          </a:p>
        </p:txBody>
      </p:sp>
      <p:sp>
        <p:nvSpPr>
          <p:cNvPr id="9" name="Shape 5"/>
          <p:cNvSpPr/>
          <p:nvPr/>
        </p:nvSpPr>
        <p:spPr>
          <a:xfrm>
            <a:off x="5212080" y="1645920"/>
            <a:ext cx="1280160" cy="1280160"/>
          </a:xfrm>
          <a:prstGeom prst="ellipse">
            <a:avLst/>
          </a:prstGeom>
          <a:solidFill>
            <a:srgbClr val="133D3D"/>
          </a:solidFill>
          <a:ln w="25400">
            <a:solidFill>
              <a:srgbClr val="00B4A6"/>
            </a:solidFill>
            <a:prstDash val="solid"/>
          </a:ln>
        </p:spPr>
        <p:txBody>
          <a:bodyPr/>
          <a:lstStyle/>
          <a:p>
            <a:endParaRPr lang="en-US"/>
          </a:p>
        </p:txBody>
      </p:sp>
      <p:pic>
        <p:nvPicPr>
          <p:cNvPr id="10" name="Image 2" descr="preencoded.png"/>
          <p:cNvPicPr>
            <a:picLocks noChangeAspect="1"/>
          </p:cNvPicPr>
          <p:nvPr/>
        </p:nvPicPr>
        <p:blipFill>
          <a:blip r:embed="rId3"/>
          <a:stretch>
            <a:fillRect/>
          </a:stretch>
        </p:blipFill>
        <p:spPr>
          <a:xfrm>
            <a:off x="5532120" y="1965960"/>
            <a:ext cx="640080" cy="640080"/>
          </a:xfrm>
          <a:prstGeom prst="rect">
            <a:avLst/>
          </a:prstGeom>
        </p:spPr>
      </p:pic>
      <p:sp>
        <p:nvSpPr>
          <p:cNvPr id="11" name="Text 6"/>
          <p:cNvSpPr/>
          <p:nvPr/>
        </p:nvSpPr>
        <p:spPr>
          <a:xfrm>
            <a:off x="4937760" y="3108960"/>
            <a:ext cx="18288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Henry Wolcott</a:t>
            </a:r>
            <a:endParaRPr lang="en-US" sz="1400" dirty="0"/>
          </a:p>
        </p:txBody>
      </p:sp>
      <p:sp>
        <p:nvSpPr>
          <p:cNvPr id="12" name="Shape 7"/>
          <p:cNvSpPr/>
          <p:nvPr/>
        </p:nvSpPr>
        <p:spPr>
          <a:xfrm>
            <a:off x="7360920" y="1645920"/>
            <a:ext cx="1280160" cy="1280160"/>
          </a:xfrm>
          <a:prstGeom prst="ellipse">
            <a:avLst/>
          </a:prstGeom>
          <a:solidFill>
            <a:srgbClr val="133D3D"/>
          </a:solidFill>
          <a:ln w="25400">
            <a:solidFill>
              <a:srgbClr val="00B4A6"/>
            </a:solidFill>
            <a:prstDash val="solid"/>
          </a:ln>
        </p:spPr>
        <p:txBody>
          <a:bodyPr/>
          <a:lstStyle/>
          <a:p>
            <a:endParaRPr lang="en-US"/>
          </a:p>
        </p:txBody>
      </p:sp>
      <p:pic>
        <p:nvPicPr>
          <p:cNvPr id="13" name="Image 3" descr="preencoded.png"/>
          <p:cNvPicPr>
            <a:picLocks noChangeAspect="1"/>
          </p:cNvPicPr>
          <p:nvPr/>
        </p:nvPicPr>
        <p:blipFill>
          <a:blip r:embed="rId3"/>
          <a:stretch>
            <a:fillRect/>
          </a:stretch>
        </p:blipFill>
        <p:spPr>
          <a:xfrm>
            <a:off x="7680960" y="1965960"/>
            <a:ext cx="640080" cy="640080"/>
          </a:xfrm>
          <a:prstGeom prst="rect">
            <a:avLst/>
          </a:prstGeom>
        </p:spPr>
      </p:pic>
      <p:sp>
        <p:nvSpPr>
          <p:cNvPr id="14" name="Text 8"/>
          <p:cNvSpPr/>
          <p:nvPr/>
        </p:nvSpPr>
        <p:spPr>
          <a:xfrm>
            <a:off x="7086600" y="3108960"/>
            <a:ext cx="18288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Mustafa Yousaf</a:t>
            </a:r>
            <a:endParaRPr lang="en-US" sz="1400" dirty="0"/>
          </a:p>
        </p:txBody>
      </p:sp>
      <p:sp>
        <p:nvSpPr>
          <p:cNvPr id="15" name="Shape 9"/>
          <p:cNvSpPr/>
          <p:nvPr/>
        </p:nvSpPr>
        <p:spPr>
          <a:xfrm>
            <a:off x="640080" y="3931920"/>
            <a:ext cx="7863840" cy="731520"/>
          </a:xfrm>
          <a:prstGeom prst="rect">
            <a:avLst/>
          </a:prstGeom>
          <a:solidFill>
            <a:srgbClr val="133D3D"/>
          </a:solidFill>
          <a:ln/>
          <a:effectLst>
            <a:outerShdw blurRad="76200" dist="25400" dir="8100000" algn="bl" rotWithShape="0">
              <a:srgbClr val="000000">
                <a:alpha val="12000"/>
              </a:srgbClr>
            </a:outerShdw>
          </a:effectLst>
        </p:spPr>
        <p:txBody>
          <a:bodyPr/>
          <a:lstStyle/>
          <a:p>
            <a:endParaRPr lang="en-US"/>
          </a:p>
        </p:txBody>
      </p:sp>
      <p:pic>
        <p:nvPicPr>
          <p:cNvPr id="16" name="Image 4" descr="preencoded.png"/>
          <p:cNvPicPr>
            <a:picLocks noChangeAspect="1"/>
          </p:cNvPicPr>
          <p:nvPr/>
        </p:nvPicPr>
        <p:blipFill>
          <a:blip r:embed="rId4"/>
          <a:stretch>
            <a:fillRect/>
          </a:stretch>
        </p:blipFill>
        <p:spPr>
          <a:xfrm>
            <a:off x="914400" y="4069080"/>
            <a:ext cx="411480" cy="411480"/>
          </a:xfrm>
          <a:prstGeom prst="rect">
            <a:avLst/>
          </a:prstGeom>
        </p:spPr>
      </p:pic>
      <p:sp>
        <p:nvSpPr>
          <p:cNvPr id="17" name="Text 10"/>
          <p:cNvSpPr/>
          <p:nvPr/>
        </p:nvSpPr>
        <p:spPr>
          <a:xfrm>
            <a:off x="1463040" y="3931920"/>
            <a:ext cx="6400800" cy="731520"/>
          </a:xfrm>
          <a:prstGeom prst="rect">
            <a:avLst/>
          </a:prstGeom>
          <a:noFill/>
          <a:ln/>
        </p:spPr>
        <p:txBody>
          <a:bodyPr wrap="square" rtlCol="0" anchor="ctr"/>
          <a:lstStyle/>
          <a:p>
            <a:pPr marL="0" indent="0">
              <a:buNone/>
            </a:pPr>
            <a:r>
              <a:rPr lang="en-US" sz="1400" dirty="0">
                <a:solidFill>
                  <a:srgbClr val="00B4A6"/>
                </a:solidFill>
                <a:latin typeface="Calibri" pitchFamily="34" charset="0"/>
                <a:ea typeface="Calibri" pitchFamily="34" charset="-122"/>
                <a:cs typeface="Calibri" pitchFamily="34" charset="-120"/>
              </a:rPr>
              <a:t>github.com/Stafa7/readmission-risk-prediction</a:t>
            </a:r>
            <a:endParaRPr lang="en-US" sz="1400" dirty="0"/>
          </a:p>
        </p:txBody>
      </p:sp>
      <p:pic>
        <p:nvPicPr>
          <p:cNvPr id="18" name="Picture 2" descr="Profile image">
            <a:extLst>
              <a:ext uri="{FF2B5EF4-FFF2-40B4-BE49-F238E27FC236}">
                <a16:creationId xmlns:a16="http://schemas.microsoft.com/office/drawing/2014/main" id="{D6DA089D-F246-2AD2-61B9-34B9D4E737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1645920"/>
            <a:ext cx="1280160" cy="128016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9" name="Picture 4" descr="Profile image">
            <a:extLst>
              <a:ext uri="{FF2B5EF4-FFF2-40B4-BE49-F238E27FC236}">
                <a16:creationId xmlns:a16="http://schemas.microsoft.com/office/drawing/2014/main" id="{7DDA6172-DFB3-2EB1-845D-35772DF45C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3240" y="1645920"/>
            <a:ext cx="1280160" cy="128016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0" name="Picture 6" descr="Profile image">
            <a:extLst>
              <a:ext uri="{FF2B5EF4-FFF2-40B4-BE49-F238E27FC236}">
                <a16:creationId xmlns:a16="http://schemas.microsoft.com/office/drawing/2014/main" id="{B7DAFB65-68C4-FAB2-83DA-2E67AF5EF7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60920" y="1645920"/>
            <a:ext cx="1280160" cy="128016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1" name="Picture 8" descr="Profile image">
            <a:extLst>
              <a:ext uri="{FF2B5EF4-FFF2-40B4-BE49-F238E27FC236}">
                <a16:creationId xmlns:a16="http://schemas.microsoft.com/office/drawing/2014/main" id="{56EA9C04-1A80-66E6-2E82-DFF950A635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2080" y="1645920"/>
            <a:ext cx="1280160" cy="128016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24" name="Text 2">
            <a:extLst>
              <a:ext uri="{FF2B5EF4-FFF2-40B4-BE49-F238E27FC236}">
                <a16:creationId xmlns:a16="http://schemas.microsoft.com/office/drawing/2014/main" id="{B05AB452-370B-12B5-D159-478749DF67D3}"/>
              </a:ext>
            </a:extLst>
          </p:cNvPr>
          <p:cNvSpPr/>
          <p:nvPr/>
        </p:nvSpPr>
        <p:spPr>
          <a:xfrm>
            <a:off x="634535" y="1149928"/>
            <a:ext cx="1828800" cy="457200"/>
          </a:xfrm>
          <a:prstGeom prst="rect">
            <a:avLst/>
          </a:prstGeom>
          <a:noFill/>
          <a:ln/>
        </p:spPr>
        <p:txBody>
          <a:bodyPr wrap="square" rtlCol="0" anchor="ctr"/>
          <a:lstStyle/>
          <a:p>
            <a:pPr marL="0" indent="0" algn="ctr">
              <a:buNone/>
            </a:pPr>
            <a:r>
              <a:rPr lang="en-US" sz="1400" b="1" dirty="0" err="1">
                <a:solidFill>
                  <a:srgbClr val="00B4A6"/>
                </a:solidFill>
                <a:latin typeface="Calibri" pitchFamily="34" charset="0"/>
                <a:ea typeface="Calibri" pitchFamily="34" charset="-122"/>
                <a:cs typeface="Calibri" pitchFamily="34" charset="-120"/>
              </a:rPr>
              <a:t>ferozobaid</a:t>
            </a:r>
            <a:endParaRPr lang="en-US" sz="1400" dirty="0">
              <a:solidFill>
                <a:srgbClr val="00B4A6"/>
              </a:solidFill>
            </a:endParaRPr>
          </a:p>
        </p:txBody>
      </p:sp>
      <p:sp>
        <p:nvSpPr>
          <p:cNvPr id="25" name="Text 4">
            <a:extLst>
              <a:ext uri="{FF2B5EF4-FFF2-40B4-BE49-F238E27FC236}">
                <a16:creationId xmlns:a16="http://schemas.microsoft.com/office/drawing/2014/main" id="{C76291A2-A33E-69F8-B21B-3D4494F59FA8}"/>
              </a:ext>
            </a:extLst>
          </p:cNvPr>
          <p:cNvSpPr/>
          <p:nvPr/>
        </p:nvSpPr>
        <p:spPr>
          <a:xfrm>
            <a:off x="2783375" y="1149928"/>
            <a:ext cx="1828800" cy="457200"/>
          </a:xfrm>
          <a:prstGeom prst="rect">
            <a:avLst/>
          </a:prstGeom>
          <a:noFill/>
          <a:ln/>
        </p:spPr>
        <p:txBody>
          <a:bodyPr wrap="square" rtlCol="0" anchor="ctr"/>
          <a:lstStyle/>
          <a:p>
            <a:pPr algn="ctr"/>
            <a:r>
              <a:rPr lang="en-US" sz="1400" b="1" dirty="0">
                <a:solidFill>
                  <a:srgbClr val="00B4A6"/>
                </a:solidFill>
                <a:latin typeface="Calibri" pitchFamily="34" charset="0"/>
                <a:cs typeface="Calibri" pitchFamily="34" charset="-120"/>
              </a:rPr>
              <a:t>Mlaf27</a:t>
            </a:r>
          </a:p>
        </p:txBody>
      </p:sp>
      <p:sp>
        <p:nvSpPr>
          <p:cNvPr id="26" name="Text 6">
            <a:extLst>
              <a:ext uri="{FF2B5EF4-FFF2-40B4-BE49-F238E27FC236}">
                <a16:creationId xmlns:a16="http://schemas.microsoft.com/office/drawing/2014/main" id="{02B3BA82-A90B-64E2-081C-66AC4D0133A4}"/>
              </a:ext>
            </a:extLst>
          </p:cNvPr>
          <p:cNvSpPr/>
          <p:nvPr/>
        </p:nvSpPr>
        <p:spPr>
          <a:xfrm>
            <a:off x="4932215" y="1149928"/>
            <a:ext cx="1828800" cy="457200"/>
          </a:xfrm>
          <a:prstGeom prst="rect">
            <a:avLst/>
          </a:prstGeom>
          <a:noFill/>
          <a:ln/>
        </p:spPr>
        <p:txBody>
          <a:bodyPr wrap="square" rtlCol="0" anchor="ctr"/>
          <a:lstStyle/>
          <a:p>
            <a:pPr algn="ctr"/>
            <a:r>
              <a:rPr lang="en-US" sz="1400" b="1" dirty="0" err="1">
                <a:solidFill>
                  <a:srgbClr val="00B4A6"/>
                </a:solidFill>
                <a:latin typeface="Calibri" pitchFamily="34" charset="0"/>
                <a:cs typeface="Calibri" pitchFamily="34" charset="-120"/>
              </a:rPr>
              <a:t>henrytwolcott-sudo</a:t>
            </a:r>
            <a:endParaRPr lang="en-US" sz="1400" b="1" dirty="0">
              <a:solidFill>
                <a:srgbClr val="00B4A6"/>
              </a:solidFill>
              <a:latin typeface="Calibri" pitchFamily="34" charset="0"/>
              <a:cs typeface="Calibri" pitchFamily="34" charset="-120"/>
            </a:endParaRPr>
          </a:p>
        </p:txBody>
      </p:sp>
      <p:sp>
        <p:nvSpPr>
          <p:cNvPr id="27" name="Text 8">
            <a:extLst>
              <a:ext uri="{FF2B5EF4-FFF2-40B4-BE49-F238E27FC236}">
                <a16:creationId xmlns:a16="http://schemas.microsoft.com/office/drawing/2014/main" id="{5848827A-6F28-8694-6263-12DBC23A3E42}"/>
              </a:ext>
            </a:extLst>
          </p:cNvPr>
          <p:cNvSpPr/>
          <p:nvPr/>
        </p:nvSpPr>
        <p:spPr>
          <a:xfrm>
            <a:off x="7081055" y="1149928"/>
            <a:ext cx="1828800" cy="457200"/>
          </a:xfrm>
          <a:prstGeom prst="rect">
            <a:avLst/>
          </a:prstGeom>
          <a:noFill/>
          <a:ln/>
        </p:spPr>
        <p:txBody>
          <a:bodyPr wrap="square" rtlCol="0" anchor="ctr"/>
          <a:lstStyle/>
          <a:p>
            <a:pPr algn="ctr"/>
            <a:r>
              <a:rPr lang="en-US" sz="1400" b="1" dirty="0">
                <a:solidFill>
                  <a:srgbClr val="00B4A6"/>
                </a:solidFill>
                <a:latin typeface="Calibri" pitchFamily="34" charset="0"/>
                <a:ea typeface="Calibri" pitchFamily="34" charset="-122"/>
                <a:cs typeface="Calibri" pitchFamily="34" charset="-120"/>
              </a:rPr>
              <a:t>Stafa7</a:t>
            </a:r>
            <a:endParaRPr lang="en-US" sz="1400" b="1"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Why Hospital Readmission Matters</a:t>
            </a:r>
            <a:endParaRPr lang="en-US" sz="3600" dirty="0"/>
          </a:p>
        </p:txBody>
      </p:sp>
      <p:sp>
        <p:nvSpPr>
          <p:cNvPr id="3" name="Shape 1"/>
          <p:cNvSpPr/>
          <p:nvPr/>
        </p:nvSpPr>
        <p:spPr>
          <a:xfrm>
            <a:off x="640080" y="1371600"/>
            <a:ext cx="2286000" cy="2286000"/>
          </a:xfrm>
          <a:prstGeom prst="rect">
            <a:avLst/>
          </a:prstGeom>
          <a:solidFill>
            <a:srgbClr val="0D2B2B"/>
          </a:solidFill>
          <a:ln/>
          <a:effectLst>
            <a:outerShdw blurRad="76200" dist="25400" dir="8100000" algn="bl" rotWithShape="0">
              <a:srgbClr val="000000">
                <a:alpha val="12000"/>
              </a:srgbClr>
            </a:outerShdw>
          </a:effectLst>
        </p:spPr>
        <p:txBody>
          <a:bodyPr/>
          <a:lstStyle/>
          <a:p>
            <a:endParaRPr lang="en-US"/>
          </a:p>
        </p:txBody>
      </p:sp>
      <p:sp>
        <p:nvSpPr>
          <p:cNvPr id="4" name="Text 2"/>
          <p:cNvSpPr/>
          <p:nvPr/>
        </p:nvSpPr>
        <p:spPr>
          <a:xfrm>
            <a:off x="640080" y="1554480"/>
            <a:ext cx="2286000" cy="1097280"/>
          </a:xfrm>
          <a:prstGeom prst="rect">
            <a:avLst/>
          </a:prstGeom>
          <a:noFill/>
          <a:ln/>
        </p:spPr>
        <p:txBody>
          <a:bodyPr wrap="square" lIns="0" tIns="0" rIns="0" bIns="0" rtlCol="0" anchor="ctr"/>
          <a:lstStyle/>
          <a:p>
            <a:pPr marL="0" indent="0" algn="ctr">
              <a:buNone/>
            </a:pPr>
            <a:r>
              <a:rPr lang="en-US" sz="4200" b="1" dirty="0">
                <a:solidFill>
                  <a:srgbClr val="00B4A6"/>
                </a:solidFill>
                <a:latin typeface="Georgia" pitchFamily="34" charset="0"/>
                <a:ea typeface="Georgia" pitchFamily="34" charset="-122"/>
                <a:cs typeface="Georgia" pitchFamily="34" charset="-120"/>
              </a:rPr>
              <a:t>$26B+</a:t>
            </a:r>
            <a:endParaRPr lang="en-US" sz="4200" dirty="0"/>
          </a:p>
        </p:txBody>
      </p:sp>
      <p:sp>
        <p:nvSpPr>
          <p:cNvPr id="5" name="Text 3"/>
          <p:cNvSpPr/>
          <p:nvPr/>
        </p:nvSpPr>
        <p:spPr>
          <a:xfrm>
            <a:off x="640080" y="2560320"/>
            <a:ext cx="2286000" cy="9144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Annual cost of avoidable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30-day readmissions in the U.S.</a:t>
            </a:r>
            <a:endParaRPr lang="en-US" sz="1100" dirty="0"/>
          </a:p>
        </p:txBody>
      </p:sp>
      <p:sp>
        <p:nvSpPr>
          <p:cNvPr id="6" name="Shape 4"/>
          <p:cNvSpPr/>
          <p:nvPr/>
        </p:nvSpPr>
        <p:spPr>
          <a:xfrm>
            <a:off x="3291840" y="1371600"/>
            <a:ext cx="54864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3291840" y="1371600"/>
            <a:ext cx="54864" cy="685800"/>
          </a:xfrm>
          <a:prstGeom prst="rect">
            <a:avLst/>
          </a:prstGeom>
          <a:solidFill>
            <a:srgbClr val="00B4A6"/>
          </a:solidFill>
          <a:ln/>
        </p:spPr>
        <p:txBody>
          <a:bodyPr/>
          <a:lstStyle/>
          <a:p>
            <a:endParaRPr lang="en-US"/>
          </a:p>
        </p:txBody>
      </p:sp>
      <p:sp>
        <p:nvSpPr>
          <p:cNvPr id="8" name="Text 6"/>
          <p:cNvSpPr/>
          <p:nvPr/>
        </p:nvSpPr>
        <p:spPr>
          <a:xfrm>
            <a:off x="3520440" y="1389888"/>
            <a:ext cx="50292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Business Goal</a:t>
            </a:r>
            <a:endParaRPr lang="en-US" sz="1300" dirty="0"/>
          </a:p>
        </p:txBody>
      </p:sp>
      <p:sp>
        <p:nvSpPr>
          <p:cNvPr id="9" name="Text 7"/>
          <p:cNvSpPr/>
          <p:nvPr/>
        </p:nvSpPr>
        <p:spPr>
          <a:xfrm>
            <a:off x="3520440" y="1664208"/>
            <a:ext cx="5029200" cy="347472"/>
          </a:xfrm>
          <a:prstGeom prst="rect">
            <a:avLst/>
          </a:prstGeom>
          <a:noFill/>
          <a:ln/>
        </p:spPr>
        <p:txBody>
          <a:bodyPr wrap="square" lIns="0" tIns="0" rIns="0" bIns="0" rtlCol="0" anchor="ctr"/>
          <a:lstStyle/>
          <a:p>
            <a:pPr marL="0" indent="0">
              <a:buNone/>
            </a:pPr>
            <a:r>
              <a:rPr lang="en-US" sz="1050" dirty="0">
                <a:solidFill>
                  <a:srgbClr val="5A7A7A"/>
                </a:solidFill>
                <a:latin typeface="Calibri" pitchFamily="34" charset="0"/>
                <a:ea typeface="Calibri" pitchFamily="34" charset="-122"/>
                <a:cs typeface="Calibri" pitchFamily="34" charset="-120"/>
              </a:rPr>
              <a:t>Reduce avoidable 30-day readmissions and allocate follow-up resources efficiently.</a:t>
            </a:r>
            <a:endParaRPr lang="en-US" sz="1050" dirty="0"/>
          </a:p>
        </p:txBody>
      </p:sp>
      <p:sp>
        <p:nvSpPr>
          <p:cNvPr id="10" name="Shape 8"/>
          <p:cNvSpPr/>
          <p:nvPr/>
        </p:nvSpPr>
        <p:spPr>
          <a:xfrm>
            <a:off x="3291840" y="2194560"/>
            <a:ext cx="54864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3291840" y="2194560"/>
            <a:ext cx="54864" cy="685800"/>
          </a:xfrm>
          <a:prstGeom prst="rect">
            <a:avLst/>
          </a:prstGeom>
          <a:solidFill>
            <a:srgbClr val="00B4A6"/>
          </a:solidFill>
          <a:ln/>
        </p:spPr>
        <p:txBody>
          <a:bodyPr/>
          <a:lstStyle/>
          <a:p>
            <a:endParaRPr lang="en-US"/>
          </a:p>
        </p:txBody>
      </p:sp>
      <p:sp>
        <p:nvSpPr>
          <p:cNvPr id="12" name="Text 10"/>
          <p:cNvSpPr/>
          <p:nvPr/>
        </p:nvSpPr>
        <p:spPr>
          <a:xfrm>
            <a:off x="3520440" y="2212848"/>
            <a:ext cx="50292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DS Goal</a:t>
            </a:r>
            <a:endParaRPr lang="en-US" sz="1300" dirty="0"/>
          </a:p>
        </p:txBody>
      </p:sp>
      <p:sp>
        <p:nvSpPr>
          <p:cNvPr id="13" name="Text 11"/>
          <p:cNvSpPr/>
          <p:nvPr/>
        </p:nvSpPr>
        <p:spPr>
          <a:xfrm>
            <a:off x="3520440" y="2487168"/>
            <a:ext cx="5029200" cy="347472"/>
          </a:xfrm>
          <a:prstGeom prst="rect">
            <a:avLst/>
          </a:prstGeom>
          <a:noFill/>
          <a:ln/>
        </p:spPr>
        <p:txBody>
          <a:bodyPr wrap="square" lIns="0" tIns="0" rIns="0" bIns="0" rtlCol="0" anchor="ctr"/>
          <a:lstStyle/>
          <a:p>
            <a:pPr marL="0" indent="0">
              <a:buNone/>
            </a:pPr>
            <a:r>
              <a:rPr lang="en-US" sz="1050" dirty="0">
                <a:solidFill>
                  <a:srgbClr val="5A7A7A"/>
                </a:solidFill>
                <a:latin typeface="Calibri" pitchFamily="34" charset="0"/>
                <a:ea typeface="Calibri" pitchFamily="34" charset="-122"/>
                <a:cs typeface="Calibri" pitchFamily="34" charset="-120"/>
              </a:rPr>
              <a:t>Build an end-to-end PoV pipeline that predicts readmission risk with measurable lift over a heuristic baseline.</a:t>
            </a:r>
            <a:endParaRPr lang="en-US" sz="1050" dirty="0"/>
          </a:p>
        </p:txBody>
      </p:sp>
      <p:sp>
        <p:nvSpPr>
          <p:cNvPr id="14" name="Shape 12"/>
          <p:cNvSpPr/>
          <p:nvPr/>
        </p:nvSpPr>
        <p:spPr>
          <a:xfrm>
            <a:off x="3291840" y="3017520"/>
            <a:ext cx="548640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3291840" y="3017520"/>
            <a:ext cx="54864" cy="685800"/>
          </a:xfrm>
          <a:prstGeom prst="rect">
            <a:avLst/>
          </a:prstGeom>
          <a:solidFill>
            <a:srgbClr val="00B4A6"/>
          </a:solidFill>
          <a:ln/>
        </p:spPr>
        <p:txBody>
          <a:bodyPr/>
          <a:lstStyle/>
          <a:p>
            <a:endParaRPr lang="en-US"/>
          </a:p>
        </p:txBody>
      </p:sp>
      <p:sp>
        <p:nvSpPr>
          <p:cNvPr id="16" name="Text 14"/>
          <p:cNvSpPr/>
          <p:nvPr/>
        </p:nvSpPr>
        <p:spPr>
          <a:xfrm>
            <a:off x="3520440" y="3035808"/>
            <a:ext cx="50292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Limited Resources</a:t>
            </a:r>
            <a:endParaRPr lang="en-US" sz="1300" dirty="0"/>
          </a:p>
        </p:txBody>
      </p:sp>
      <p:sp>
        <p:nvSpPr>
          <p:cNvPr id="17" name="Text 15"/>
          <p:cNvSpPr/>
          <p:nvPr/>
        </p:nvSpPr>
        <p:spPr>
          <a:xfrm>
            <a:off x="3520440" y="3310128"/>
            <a:ext cx="5029200" cy="347472"/>
          </a:xfrm>
          <a:prstGeom prst="rect">
            <a:avLst/>
          </a:prstGeom>
          <a:noFill/>
          <a:ln/>
        </p:spPr>
        <p:txBody>
          <a:bodyPr wrap="square" lIns="0" tIns="0" rIns="0" bIns="0" rtlCol="0" anchor="ctr"/>
          <a:lstStyle/>
          <a:p>
            <a:pPr marL="0" indent="0">
              <a:buNone/>
            </a:pPr>
            <a:r>
              <a:rPr lang="en-US" sz="1050" dirty="0">
                <a:solidFill>
                  <a:srgbClr val="5A7A7A"/>
                </a:solidFill>
                <a:latin typeface="Calibri" pitchFamily="34" charset="0"/>
                <a:ea typeface="Calibri" pitchFamily="34" charset="-122"/>
                <a:cs typeface="Calibri" pitchFamily="34" charset="-120"/>
              </a:rPr>
              <a:t>Transition-of-care nurses, social workers, and follow-up capacity are finite. Targeting matters.</a:t>
            </a:r>
            <a:endParaRPr lang="en-US" sz="1050" dirty="0"/>
          </a:p>
        </p:txBody>
      </p:sp>
      <p:sp>
        <p:nvSpPr>
          <p:cNvPr id="18" name="Shape 16"/>
          <p:cNvSpPr/>
          <p:nvPr/>
        </p:nvSpPr>
        <p:spPr>
          <a:xfrm>
            <a:off x="640080" y="3931920"/>
            <a:ext cx="8138160" cy="868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19" name="Image 0" descr="preencoded.png"/>
          <p:cNvPicPr>
            <a:picLocks noChangeAspect="1"/>
          </p:cNvPicPr>
          <p:nvPr/>
        </p:nvPicPr>
        <p:blipFill>
          <a:blip r:embed="rId3"/>
          <a:stretch>
            <a:fillRect/>
          </a:stretch>
        </p:blipFill>
        <p:spPr>
          <a:xfrm>
            <a:off x="822960" y="4069080"/>
            <a:ext cx="365760" cy="365760"/>
          </a:xfrm>
          <a:prstGeom prst="rect">
            <a:avLst/>
          </a:prstGeom>
        </p:spPr>
      </p:pic>
      <p:sp>
        <p:nvSpPr>
          <p:cNvPr id="20" name="Text 17"/>
          <p:cNvSpPr/>
          <p:nvPr/>
        </p:nvSpPr>
        <p:spPr>
          <a:xfrm>
            <a:off x="1280160" y="3977640"/>
            <a:ext cx="2743200" cy="32004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Hypothesis</a:t>
            </a:r>
            <a:endParaRPr lang="en-US" sz="1300" dirty="0"/>
          </a:p>
        </p:txBody>
      </p:sp>
      <p:sp>
        <p:nvSpPr>
          <p:cNvPr id="21" name="Text 18"/>
          <p:cNvSpPr/>
          <p:nvPr/>
        </p:nvSpPr>
        <p:spPr>
          <a:xfrm>
            <a:off x="1280160" y="4297680"/>
            <a:ext cx="7223760" cy="457200"/>
          </a:xfrm>
          <a:prstGeom prst="rect">
            <a:avLst/>
          </a:prstGeom>
          <a:noFill/>
          <a:ln/>
        </p:spPr>
        <p:txBody>
          <a:bodyPr wrap="square" lIns="0" tIns="0" rIns="0" bIns="0" rtlCol="0" anchor="ctr"/>
          <a:lstStyle/>
          <a:p>
            <a:pPr marL="0" indent="0">
              <a:buNone/>
            </a:pPr>
            <a:r>
              <a:rPr lang="en-US" sz="1000" dirty="0">
                <a:solidFill>
                  <a:srgbClr val="5A7A7A"/>
                </a:solidFill>
                <a:latin typeface="Calibri" pitchFamily="34" charset="0"/>
                <a:ea typeface="Calibri" pitchFamily="34" charset="-122"/>
                <a:cs typeface="Calibri" pitchFamily="34" charset="-120"/>
              </a:rPr>
              <a:t>Using routinely available encounter-level data, we can predict 30-day readmission risk better than simple heuristics, with interpretable explanations suitable for operational adoption.</a:t>
            </a:r>
            <a:endParaRPr lang="en-US" sz="10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Data Overview</a:t>
            </a:r>
            <a:endParaRPr lang="en-US" sz="3600" dirty="0"/>
          </a:p>
        </p:txBody>
      </p:sp>
      <p:sp>
        <p:nvSpPr>
          <p:cNvPr id="3" name="Text 1"/>
          <p:cNvSpPr/>
          <p:nvPr/>
        </p:nvSpPr>
        <p:spPr>
          <a:xfrm>
            <a:off x="640080" y="914400"/>
            <a:ext cx="7315200" cy="365760"/>
          </a:xfrm>
          <a:prstGeom prst="rect">
            <a:avLst/>
          </a:prstGeom>
          <a:noFill/>
          <a:ln/>
        </p:spPr>
        <p:txBody>
          <a:bodyPr wrap="square" lIns="0" tIns="0" rIns="0" bIns="0" rtlCol="0" anchor="ctr"/>
          <a:lstStyle/>
          <a:p>
            <a:pPr marL="0" indent="0">
              <a:buNone/>
            </a:pPr>
            <a:r>
              <a:rPr lang="en-US" sz="1300" dirty="0">
                <a:solidFill>
                  <a:srgbClr val="5A7A7A"/>
                </a:solidFill>
                <a:latin typeface="Calibri" pitchFamily="34" charset="0"/>
                <a:ea typeface="Calibri" pitchFamily="34" charset="-122"/>
                <a:cs typeface="Calibri" pitchFamily="34" charset="-120"/>
              </a:rPr>
              <a:t>Diabetes 130-US Hospitals (1999–2008) · UCI Repository</a:t>
            </a:r>
            <a:endParaRPr lang="en-US" sz="1300" dirty="0"/>
          </a:p>
        </p:txBody>
      </p:sp>
      <p:sp>
        <p:nvSpPr>
          <p:cNvPr id="4" name="Shape 2"/>
          <p:cNvSpPr/>
          <p:nvPr/>
        </p:nvSpPr>
        <p:spPr>
          <a:xfrm>
            <a:off x="640080" y="1463040"/>
            <a:ext cx="18288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640080" y="1554480"/>
            <a:ext cx="1828800" cy="640080"/>
          </a:xfrm>
          <a:prstGeom prst="rect">
            <a:avLst/>
          </a:prstGeom>
          <a:noFill/>
          <a:ln/>
        </p:spPr>
        <p:txBody>
          <a:bodyPr wrap="square" lIns="0" tIns="0" rIns="0" bIns="0" rtlCol="0" anchor="ctr"/>
          <a:lstStyle/>
          <a:p>
            <a:pPr marL="0" indent="0" algn="ctr">
              <a:buNone/>
            </a:pPr>
            <a:r>
              <a:rPr lang="en-US" sz="3000" b="1" dirty="0">
                <a:solidFill>
                  <a:srgbClr val="00B4A6"/>
                </a:solidFill>
                <a:latin typeface="Georgia" pitchFamily="34" charset="0"/>
                <a:ea typeface="Georgia" pitchFamily="34" charset="-122"/>
                <a:cs typeface="Georgia" pitchFamily="34" charset="-120"/>
              </a:rPr>
              <a:t>101,766</a:t>
            </a:r>
            <a:endParaRPr lang="en-US" sz="3000" dirty="0"/>
          </a:p>
        </p:txBody>
      </p:sp>
      <p:sp>
        <p:nvSpPr>
          <p:cNvPr id="6" name="Text 4"/>
          <p:cNvSpPr/>
          <p:nvPr/>
        </p:nvSpPr>
        <p:spPr>
          <a:xfrm>
            <a:off x="640080" y="2148840"/>
            <a:ext cx="1828800" cy="365760"/>
          </a:xfrm>
          <a:prstGeom prst="rect">
            <a:avLst/>
          </a:prstGeom>
          <a:noFill/>
          <a:ln/>
        </p:spPr>
        <p:txBody>
          <a:bodyPr wrap="square" lIns="0" tIns="0" rIns="0" bIns="0" rtlCol="0" anchor="ctr"/>
          <a:lstStyle/>
          <a:p>
            <a:pPr marL="0" indent="0" algn="ctr">
              <a:buNone/>
            </a:pPr>
            <a:r>
              <a:rPr lang="en-US" sz="1200" dirty="0">
                <a:solidFill>
                  <a:srgbClr val="5A7A7A"/>
                </a:solidFill>
                <a:latin typeface="Calibri" pitchFamily="34" charset="0"/>
                <a:ea typeface="Calibri" pitchFamily="34" charset="-122"/>
                <a:cs typeface="Calibri" pitchFamily="34" charset="-120"/>
              </a:rPr>
              <a:t>Encounters</a:t>
            </a:r>
            <a:endParaRPr lang="en-US" sz="1200" dirty="0"/>
          </a:p>
        </p:txBody>
      </p:sp>
      <p:sp>
        <p:nvSpPr>
          <p:cNvPr id="7" name="Shape 5"/>
          <p:cNvSpPr/>
          <p:nvPr/>
        </p:nvSpPr>
        <p:spPr>
          <a:xfrm>
            <a:off x="2743200" y="1463040"/>
            <a:ext cx="18288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2743200" y="1554480"/>
            <a:ext cx="1828800" cy="640080"/>
          </a:xfrm>
          <a:prstGeom prst="rect">
            <a:avLst/>
          </a:prstGeom>
          <a:noFill/>
          <a:ln/>
        </p:spPr>
        <p:txBody>
          <a:bodyPr wrap="square" lIns="0" tIns="0" rIns="0" bIns="0" rtlCol="0" anchor="ctr"/>
          <a:lstStyle/>
          <a:p>
            <a:pPr marL="0" indent="0" algn="ctr">
              <a:buNone/>
            </a:pPr>
            <a:r>
              <a:rPr lang="en-US" sz="3000" b="1" dirty="0">
                <a:solidFill>
                  <a:srgbClr val="00B4A6"/>
                </a:solidFill>
                <a:latin typeface="Georgia" pitchFamily="34" charset="0"/>
                <a:ea typeface="Georgia" pitchFamily="34" charset="-122"/>
                <a:cs typeface="Georgia" pitchFamily="34" charset="-120"/>
              </a:rPr>
              <a:t>50+</a:t>
            </a:r>
            <a:endParaRPr lang="en-US" sz="3000" dirty="0"/>
          </a:p>
        </p:txBody>
      </p:sp>
      <p:sp>
        <p:nvSpPr>
          <p:cNvPr id="9" name="Text 7"/>
          <p:cNvSpPr/>
          <p:nvPr/>
        </p:nvSpPr>
        <p:spPr>
          <a:xfrm>
            <a:off x="2743200" y="2148840"/>
            <a:ext cx="1828800" cy="365760"/>
          </a:xfrm>
          <a:prstGeom prst="rect">
            <a:avLst/>
          </a:prstGeom>
          <a:noFill/>
          <a:ln/>
        </p:spPr>
        <p:txBody>
          <a:bodyPr wrap="square" lIns="0" tIns="0" rIns="0" bIns="0" rtlCol="0" anchor="ctr"/>
          <a:lstStyle/>
          <a:p>
            <a:pPr marL="0" indent="0" algn="ctr">
              <a:buNone/>
            </a:pPr>
            <a:r>
              <a:rPr lang="en-US" sz="1200" dirty="0">
                <a:solidFill>
                  <a:srgbClr val="5A7A7A"/>
                </a:solidFill>
                <a:latin typeface="Calibri" pitchFamily="34" charset="0"/>
                <a:ea typeface="Calibri" pitchFamily="34" charset="-122"/>
                <a:cs typeface="Calibri" pitchFamily="34" charset="-120"/>
              </a:rPr>
              <a:t>Features</a:t>
            </a:r>
            <a:endParaRPr lang="en-US" sz="1200" dirty="0"/>
          </a:p>
        </p:txBody>
      </p:sp>
      <p:sp>
        <p:nvSpPr>
          <p:cNvPr id="10" name="Shape 8"/>
          <p:cNvSpPr/>
          <p:nvPr/>
        </p:nvSpPr>
        <p:spPr>
          <a:xfrm>
            <a:off x="4846320" y="1463040"/>
            <a:ext cx="18288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4846320" y="1554480"/>
            <a:ext cx="1828800" cy="640080"/>
          </a:xfrm>
          <a:prstGeom prst="rect">
            <a:avLst/>
          </a:prstGeom>
          <a:noFill/>
          <a:ln/>
        </p:spPr>
        <p:txBody>
          <a:bodyPr wrap="square" lIns="0" tIns="0" rIns="0" bIns="0" rtlCol="0" anchor="ctr"/>
          <a:lstStyle/>
          <a:p>
            <a:pPr marL="0" indent="0" algn="ctr">
              <a:buNone/>
            </a:pPr>
            <a:r>
              <a:rPr lang="en-US" sz="3000" b="1" dirty="0">
                <a:solidFill>
                  <a:srgbClr val="00B4A6"/>
                </a:solidFill>
                <a:latin typeface="Georgia" pitchFamily="34" charset="0"/>
                <a:ea typeface="Georgia" pitchFamily="34" charset="-122"/>
                <a:cs typeface="Georgia" pitchFamily="34" charset="-120"/>
              </a:rPr>
              <a:t>130</a:t>
            </a:r>
            <a:endParaRPr lang="en-US" sz="3000" dirty="0"/>
          </a:p>
        </p:txBody>
      </p:sp>
      <p:sp>
        <p:nvSpPr>
          <p:cNvPr id="12" name="Text 10"/>
          <p:cNvSpPr/>
          <p:nvPr/>
        </p:nvSpPr>
        <p:spPr>
          <a:xfrm>
            <a:off x="4846320" y="2148840"/>
            <a:ext cx="1828800" cy="365760"/>
          </a:xfrm>
          <a:prstGeom prst="rect">
            <a:avLst/>
          </a:prstGeom>
          <a:noFill/>
          <a:ln/>
        </p:spPr>
        <p:txBody>
          <a:bodyPr wrap="square" lIns="0" tIns="0" rIns="0" bIns="0" rtlCol="0" anchor="ctr"/>
          <a:lstStyle/>
          <a:p>
            <a:pPr marL="0" indent="0" algn="ctr">
              <a:buNone/>
            </a:pPr>
            <a:r>
              <a:rPr lang="en-US" sz="1200" dirty="0">
                <a:solidFill>
                  <a:srgbClr val="5A7A7A"/>
                </a:solidFill>
                <a:latin typeface="Calibri" pitchFamily="34" charset="0"/>
                <a:ea typeface="Calibri" pitchFamily="34" charset="-122"/>
                <a:cs typeface="Calibri" pitchFamily="34" charset="-120"/>
              </a:rPr>
              <a:t>U.S. Hospitals</a:t>
            </a:r>
            <a:endParaRPr lang="en-US" sz="1200" dirty="0"/>
          </a:p>
        </p:txBody>
      </p:sp>
      <p:sp>
        <p:nvSpPr>
          <p:cNvPr id="13" name="Shape 11"/>
          <p:cNvSpPr/>
          <p:nvPr/>
        </p:nvSpPr>
        <p:spPr>
          <a:xfrm>
            <a:off x="6949440" y="1463040"/>
            <a:ext cx="182880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Text 12"/>
          <p:cNvSpPr/>
          <p:nvPr/>
        </p:nvSpPr>
        <p:spPr>
          <a:xfrm>
            <a:off x="6949440" y="1554480"/>
            <a:ext cx="1828800" cy="640080"/>
          </a:xfrm>
          <a:prstGeom prst="rect">
            <a:avLst/>
          </a:prstGeom>
          <a:noFill/>
          <a:ln/>
        </p:spPr>
        <p:txBody>
          <a:bodyPr wrap="square" lIns="0" tIns="0" rIns="0" bIns="0" rtlCol="0" anchor="ctr"/>
          <a:lstStyle/>
          <a:p>
            <a:pPr marL="0" indent="0" algn="ctr">
              <a:buNone/>
            </a:pPr>
            <a:r>
              <a:rPr lang="en-US" sz="3000" b="1" dirty="0">
                <a:solidFill>
                  <a:srgbClr val="00B4A6"/>
                </a:solidFill>
                <a:latin typeface="Georgia" pitchFamily="34" charset="0"/>
                <a:ea typeface="Georgia" pitchFamily="34" charset="-122"/>
                <a:cs typeface="Georgia" pitchFamily="34" charset="-120"/>
              </a:rPr>
              <a:t>10 yrs</a:t>
            </a:r>
            <a:endParaRPr lang="en-US" sz="3000" dirty="0"/>
          </a:p>
        </p:txBody>
      </p:sp>
      <p:sp>
        <p:nvSpPr>
          <p:cNvPr id="15" name="Text 13"/>
          <p:cNvSpPr/>
          <p:nvPr/>
        </p:nvSpPr>
        <p:spPr>
          <a:xfrm>
            <a:off x="6949440" y="2148840"/>
            <a:ext cx="1828800" cy="365760"/>
          </a:xfrm>
          <a:prstGeom prst="rect">
            <a:avLst/>
          </a:prstGeom>
          <a:noFill/>
          <a:ln/>
        </p:spPr>
        <p:txBody>
          <a:bodyPr wrap="square" lIns="0" tIns="0" rIns="0" bIns="0" rtlCol="0" anchor="ctr"/>
          <a:lstStyle/>
          <a:p>
            <a:pPr marL="0" indent="0" algn="ctr">
              <a:buNone/>
            </a:pPr>
            <a:r>
              <a:rPr lang="en-US" sz="1200" dirty="0">
                <a:solidFill>
                  <a:srgbClr val="5A7A7A"/>
                </a:solidFill>
                <a:latin typeface="Calibri" pitchFamily="34" charset="0"/>
                <a:ea typeface="Calibri" pitchFamily="34" charset="-122"/>
                <a:cs typeface="Calibri" pitchFamily="34" charset="-120"/>
              </a:rPr>
              <a:t>Clinical Data</a:t>
            </a:r>
            <a:endParaRPr lang="en-US" sz="1200" dirty="0"/>
          </a:p>
        </p:txBody>
      </p:sp>
      <p:sp>
        <p:nvSpPr>
          <p:cNvPr id="16" name="Shape 14"/>
          <p:cNvSpPr/>
          <p:nvPr/>
        </p:nvSpPr>
        <p:spPr>
          <a:xfrm>
            <a:off x="640080" y="2880360"/>
            <a:ext cx="38404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Text 15"/>
          <p:cNvSpPr/>
          <p:nvPr/>
        </p:nvSpPr>
        <p:spPr>
          <a:xfrm>
            <a:off x="822960" y="2971800"/>
            <a:ext cx="3474720" cy="320040"/>
          </a:xfrm>
          <a:prstGeom prst="rect">
            <a:avLst/>
          </a:prstGeom>
          <a:noFill/>
          <a:ln/>
        </p:spPr>
        <p:txBody>
          <a:bodyPr wrap="square" lIns="0" tIns="0" rIns="0" bIns="0" rtlCol="0" anchor="ctr"/>
          <a:lstStyle/>
          <a:p>
            <a:pPr marL="0" indent="0">
              <a:buNone/>
            </a:pPr>
            <a:r>
              <a:rPr lang="en-US" sz="1400" b="1" dirty="0">
                <a:solidFill>
                  <a:srgbClr val="1A2F2F"/>
                </a:solidFill>
                <a:latin typeface="Calibri" pitchFamily="34" charset="0"/>
                <a:ea typeface="Calibri" pitchFamily="34" charset="-122"/>
                <a:cs typeface="Calibri" pitchFamily="34" charset="-120"/>
              </a:rPr>
              <a:t>Target Definition</a:t>
            </a:r>
            <a:endParaRPr lang="en-US" sz="1400" dirty="0"/>
          </a:p>
        </p:txBody>
      </p:sp>
      <p:sp>
        <p:nvSpPr>
          <p:cNvPr id="18" name="Text 16"/>
          <p:cNvSpPr/>
          <p:nvPr/>
        </p:nvSpPr>
        <p:spPr>
          <a:xfrm>
            <a:off x="822960" y="3383280"/>
            <a:ext cx="3474720" cy="1005840"/>
          </a:xfrm>
          <a:prstGeom prst="rect">
            <a:avLst/>
          </a:prstGeom>
          <a:noFill/>
          <a:ln/>
        </p:spPr>
        <p:txBody>
          <a:bodyPr wrap="square" lIns="0" tIns="0" rIns="0" bIns="0"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1 = Readmitted ≤ 30 days</a:t>
            </a:r>
            <a:endParaRPr lang="en-US" sz="1200" dirty="0"/>
          </a:p>
          <a:p>
            <a:pPr marL="0" indent="0">
              <a:buNone/>
            </a:pPr>
            <a:r>
              <a:rPr lang="en-US" sz="1200" b="1" dirty="0">
                <a:solidFill>
                  <a:srgbClr val="00B4A6"/>
                </a:solidFill>
                <a:latin typeface="Calibri" pitchFamily="34" charset="0"/>
                <a:ea typeface="Calibri" pitchFamily="34" charset="-122"/>
                <a:cs typeface="Calibri" pitchFamily="34" charset="-120"/>
              </a:rPr>
              <a:t>0 = Not readmitted ≤ 30 days</a:t>
            </a:r>
            <a:endParaRPr lang="en-US" sz="1200" dirty="0"/>
          </a:p>
          <a:p>
            <a:pPr marL="0" indent="0">
              <a:buNone/>
            </a:pPr>
            <a:endParaRPr lang="en-US" sz="1200" dirty="0"/>
          </a:p>
          <a:p>
            <a:pPr marL="0" indent="0">
              <a:buNone/>
            </a:pPr>
            <a:r>
              <a:rPr lang="en-US" sz="1100" dirty="0">
                <a:solidFill>
                  <a:srgbClr val="5A7A7A"/>
                </a:solidFill>
                <a:latin typeface="Calibri" pitchFamily="34" charset="0"/>
                <a:ea typeface="Calibri" pitchFamily="34" charset="-122"/>
                <a:cs typeface="Calibri" pitchFamily="34" charset="-120"/>
              </a:rPr>
              <a:t>After leakage removal: 99,343 rows</a:t>
            </a:r>
            <a:endParaRPr lang="en-US" sz="1200" dirty="0"/>
          </a:p>
          <a:p>
            <a:pPr marL="0" indent="0">
              <a:buNone/>
            </a:pPr>
            <a:r>
              <a:rPr lang="en-US" sz="1100" dirty="0">
                <a:solidFill>
                  <a:srgbClr val="5A7A7A"/>
                </a:solidFill>
                <a:latin typeface="Calibri" pitchFamily="34" charset="0"/>
                <a:ea typeface="Calibri" pitchFamily="34" charset="-122"/>
                <a:cs typeface="Calibri" pitchFamily="34" charset="-120"/>
              </a:rPr>
              <a:t>11.4% positive rate (heavily imbalanced)</a:t>
            </a:r>
            <a:endParaRPr lang="en-US" sz="1200" dirty="0"/>
          </a:p>
        </p:txBody>
      </p:sp>
      <p:sp>
        <p:nvSpPr>
          <p:cNvPr id="19" name="Shape 17"/>
          <p:cNvSpPr/>
          <p:nvPr/>
        </p:nvSpPr>
        <p:spPr>
          <a:xfrm>
            <a:off x="4754880" y="2880360"/>
            <a:ext cx="40233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0" name="Text 18"/>
          <p:cNvSpPr/>
          <p:nvPr/>
        </p:nvSpPr>
        <p:spPr>
          <a:xfrm>
            <a:off x="4937760" y="2971800"/>
            <a:ext cx="3657600" cy="320040"/>
          </a:xfrm>
          <a:prstGeom prst="rect">
            <a:avLst/>
          </a:prstGeom>
          <a:noFill/>
          <a:ln/>
        </p:spPr>
        <p:txBody>
          <a:bodyPr wrap="square" lIns="0" tIns="0" rIns="0" bIns="0" rtlCol="0" anchor="ctr"/>
          <a:lstStyle/>
          <a:p>
            <a:pPr marL="0" indent="0">
              <a:buNone/>
            </a:pPr>
            <a:r>
              <a:rPr lang="en-US" sz="1400" b="1" dirty="0">
                <a:solidFill>
                  <a:srgbClr val="1A2F2F"/>
                </a:solidFill>
                <a:latin typeface="Calibri" pitchFamily="34" charset="0"/>
                <a:ea typeface="Calibri" pitchFamily="34" charset="-122"/>
                <a:cs typeface="Calibri" pitchFamily="34" charset="-120"/>
              </a:rPr>
              <a:t>Key Feature Groups</a:t>
            </a:r>
            <a:endParaRPr lang="en-US" sz="1400" dirty="0"/>
          </a:p>
        </p:txBody>
      </p:sp>
      <p:sp>
        <p:nvSpPr>
          <p:cNvPr id="21" name="Text 19"/>
          <p:cNvSpPr/>
          <p:nvPr/>
        </p:nvSpPr>
        <p:spPr>
          <a:xfrm>
            <a:off x="4937760" y="3383280"/>
            <a:ext cx="3657600" cy="1005840"/>
          </a:xfrm>
          <a:prstGeom prst="rect">
            <a:avLst/>
          </a:prstGeom>
          <a:noFill/>
          <a:ln/>
        </p:spPr>
        <p:txBody>
          <a:bodyPr wrap="square" lIns="0" tIns="0" rIns="0" bIns="0" rtlCol="0" anchor="ctr"/>
          <a:lstStyle/>
          <a:p>
            <a:pPr marL="0" indent="0">
              <a:buNone/>
            </a:pPr>
            <a:r>
              <a:rPr lang="en-US" sz="1100" b="1" dirty="0">
                <a:solidFill>
                  <a:srgbClr val="1A2F2F"/>
                </a:solidFill>
                <a:latin typeface="Calibri" pitchFamily="34" charset="0"/>
                <a:ea typeface="Calibri" pitchFamily="34" charset="-122"/>
                <a:cs typeface="Calibri" pitchFamily="34" charset="-120"/>
              </a:rPr>
              <a:t>Demographics: </a:t>
            </a:r>
            <a:r>
              <a:rPr lang="en-US" sz="1100" dirty="0">
                <a:solidFill>
                  <a:srgbClr val="5A7A7A"/>
                </a:solidFill>
                <a:latin typeface="Calibri" pitchFamily="34" charset="0"/>
                <a:ea typeface="Calibri" pitchFamily="34" charset="-122"/>
                <a:cs typeface="Calibri" pitchFamily="34" charset="-120"/>
              </a:rPr>
              <a:t>age, gender, race (for auditing)</a:t>
            </a:r>
            <a:endParaRPr lang="en-US" sz="1100" dirty="0"/>
          </a:p>
          <a:p>
            <a:pPr marL="0" indent="0">
              <a:buNone/>
            </a:pPr>
            <a:r>
              <a:rPr lang="en-US" sz="1100" b="1" dirty="0">
                <a:solidFill>
                  <a:srgbClr val="1A2F2F"/>
                </a:solidFill>
                <a:latin typeface="Calibri" pitchFamily="34" charset="0"/>
                <a:ea typeface="Calibri" pitchFamily="34" charset="-122"/>
                <a:cs typeface="Calibri" pitchFamily="34" charset="-120"/>
              </a:rPr>
              <a:t>Utilization: </a:t>
            </a:r>
            <a:r>
              <a:rPr lang="en-US" sz="1100" dirty="0">
                <a:solidFill>
                  <a:srgbClr val="5A7A7A"/>
                </a:solidFill>
                <a:latin typeface="Calibri" pitchFamily="34" charset="0"/>
                <a:ea typeface="Calibri" pitchFamily="34" charset="-122"/>
                <a:cs typeface="Calibri" pitchFamily="34" charset="-120"/>
              </a:rPr>
              <a:t>labs, meds, OP/ER/IP visit counts</a:t>
            </a:r>
            <a:endParaRPr lang="en-US" sz="1100" dirty="0"/>
          </a:p>
          <a:p>
            <a:pPr marL="0" indent="0">
              <a:buNone/>
            </a:pPr>
            <a:r>
              <a:rPr lang="en-US" sz="1100" b="1" dirty="0">
                <a:solidFill>
                  <a:srgbClr val="1A2F2F"/>
                </a:solidFill>
                <a:latin typeface="Calibri" pitchFamily="34" charset="0"/>
                <a:ea typeface="Calibri" pitchFamily="34" charset="-122"/>
                <a:cs typeface="Calibri" pitchFamily="34" charset="-120"/>
              </a:rPr>
              <a:t>Encounter: </a:t>
            </a:r>
            <a:r>
              <a:rPr lang="en-US" sz="1100" dirty="0">
                <a:solidFill>
                  <a:srgbClr val="5A7A7A"/>
                </a:solidFill>
                <a:latin typeface="Calibri" pitchFamily="34" charset="0"/>
                <a:ea typeface="Calibri" pitchFamily="34" charset="-122"/>
                <a:cs typeface="Calibri" pitchFamily="34" charset="-120"/>
              </a:rPr>
              <a:t>admission type, discharge, LOS</a:t>
            </a:r>
            <a:endParaRPr lang="en-US" sz="1100" dirty="0"/>
          </a:p>
          <a:p>
            <a:pPr marL="0" indent="0">
              <a:buNone/>
            </a:pPr>
            <a:r>
              <a:rPr lang="en-US" sz="1100" b="1" dirty="0">
                <a:solidFill>
                  <a:srgbClr val="1A2F2F"/>
                </a:solidFill>
                <a:latin typeface="Calibri" pitchFamily="34" charset="0"/>
                <a:ea typeface="Calibri" pitchFamily="34" charset="-122"/>
                <a:cs typeface="Calibri" pitchFamily="34" charset="-120"/>
              </a:rPr>
              <a:t>Clinical: </a:t>
            </a:r>
            <a:r>
              <a:rPr lang="en-US" sz="1100" dirty="0">
                <a:solidFill>
                  <a:srgbClr val="5A7A7A"/>
                </a:solidFill>
                <a:latin typeface="Calibri" pitchFamily="34" charset="0"/>
                <a:ea typeface="Calibri" pitchFamily="34" charset="-122"/>
                <a:cs typeface="Calibri" pitchFamily="34" charset="-120"/>
              </a:rPr>
              <a:t>ICD-9 groups, A1C flag, med changes</a:t>
            </a:r>
            <a:endParaRPr lang="en-US" sz="1100" dirty="0"/>
          </a:p>
        </p:txBody>
      </p:sp>
      <p:sp>
        <p:nvSpPr>
          <p:cNvPr id="22" name="Shape 20"/>
          <p:cNvSpPr/>
          <p:nvPr/>
        </p:nvSpPr>
        <p:spPr>
          <a:xfrm>
            <a:off x="640080" y="4663440"/>
            <a:ext cx="8138160" cy="320040"/>
          </a:xfrm>
          <a:prstGeom prst="rect">
            <a:avLst/>
          </a:prstGeom>
          <a:solidFill>
            <a:srgbClr val="FFF5F5"/>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777240" y="4681728"/>
            <a:ext cx="228600" cy="228600"/>
          </a:xfrm>
          <a:prstGeom prst="rect">
            <a:avLst/>
          </a:prstGeom>
        </p:spPr>
      </p:pic>
      <p:sp>
        <p:nvSpPr>
          <p:cNvPr id="24" name="Text 21"/>
          <p:cNvSpPr/>
          <p:nvPr/>
        </p:nvSpPr>
        <p:spPr>
          <a:xfrm>
            <a:off x="1097280" y="4663440"/>
            <a:ext cx="7315200" cy="320040"/>
          </a:xfrm>
          <a:prstGeom prst="rect">
            <a:avLst/>
          </a:prstGeom>
          <a:noFill/>
          <a:ln/>
        </p:spPr>
        <p:txBody>
          <a:bodyPr wrap="square" lIns="0" tIns="0" rIns="0" bIns="0" rtlCol="0" anchor="ctr"/>
          <a:lstStyle/>
          <a:p>
            <a:pPr marL="0" indent="0">
              <a:buNone/>
            </a:pPr>
            <a:r>
              <a:rPr lang="en-US" sz="1100" dirty="0">
                <a:solidFill>
                  <a:srgbClr val="FF6B6B"/>
                </a:solidFill>
                <a:latin typeface="Calibri" pitchFamily="34" charset="0"/>
                <a:ea typeface="Calibri" pitchFamily="34" charset="-122"/>
                <a:cs typeface="Calibri" pitchFamily="34" charset="-120"/>
              </a:rPr>
              <a:t>Class Imbalance: Only ~11% positive — PR-AUC matters more than accuracy.</a:t>
            </a:r>
            <a:endParaRPr lang="en-US" sz="11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End-to-End Pipeline</a:t>
            </a:r>
            <a:endParaRPr lang="en-US" sz="3600" dirty="0"/>
          </a:p>
        </p:txBody>
      </p:sp>
      <p:sp>
        <p:nvSpPr>
          <p:cNvPr id="3" name="Shape 1"/>
          <p:cNvSpPr/>
          <p:nvPr/>
        </p:nvSpPr>
        <p:spPr>
          <a:xfrm>
            <a:off x="320040" y="1371599"/>
            <a:ext cx="1097280" cy="2341085"/>
          </a:xfrm>
          <a:prstGeom prst="rect">
            <a:avLst/>
          </a:prstGeom>
          <a:solidFill>
            <a:srgbClr val="0D4F4F"/>
          </a:solidFill>
          <a:ln/>
          <a:effectLst>
            <a:outerShdw blurRad="76200" dist="25400" dir="8100000" algn="bl" rotWithShape="0">
              <a:srgbClr val="000000">
                <a:alpha val="12000"/>
              </a:srgbClr>
            </a:outerShdw>
          </a:effectLst>
        </p:spPr>
        <p:txBody>
          <a:bodyPr/>
          <a:lstStyle/>
          <a:p>
            <a:endParaRPr lang="en-US"/>
          </a:p>
        </p:txBody>
      </p:sp>
      <p:sp>
        <p:nvSpPr>
          <p:cNvPr id="4" name="Text 2"/>
          <p:cNvSpPr/>
          <p:nvPr/>
        </p:nvSpPr>
        <p:spPr>
          <a:xfrm>
            <a:off x="320040" y="1793547"/>
            <a:ext cx="1097280" cy="12801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Data Cleaning</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&amp; Leakage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Prevention</a:t>
            </a:r>
            <a:endParaRPr lang="en-US" sz="950" dirty="0"/>
          </a:p>
        </p:txBody>
      </p:sp>
      <p:sp>
        <p:nvSpPr>
          <p:cNvPr id="5" name="Text 3"/>
          <p:cNvSpPr/>
          <p:nvPr/>
        </p:nvSpPr>
        <p:spPr>
          <a:xfrm>
            <a:off x="1371600" y="2135621"/>
            <a:ext cx="228600" cy="457200"/>
          </a:xfrm>
          <a:prstGeom prst="rect">
            <a:avLst/>
          </a:prstGeom>
          <a:noFill/>
          <a:ln/>
        </p:spPr>
        <p:txBody>
          <a:bodyPr wrap="square" rtlCol="0" anchor="ctr"/>
          <a:lstStyle/>
          <a:p>
            <a:pPr marL="0" indent="0" algn="ctr">
              <a:buNone/>
            </a:pPr>
            <a:r>
              <a:rPr lang="en-US" sz="1800" dirty="0">
                <a:solidFill>
                  <a:srgbClr val="00B4A6"/>
                </a:solidFill>
                <a:latin typeface="Calibri" pitchFamily="34" charset="0"/>
                <a:ea typeface="Calibri" pitchFamily="34" charset="-122"/>
                <a:cs typeface="Calibri" pitchFamily="34" charset="-120"/>
              </a:rPr>
              <a:t>→</a:t>
            </a:r>
            <a:endParaRPr lang="en-US" sz="1800" dirty="0"/>
          </a:p>
        </p:txBody>
      </p:sp>
      <p:sp>
        <p:nvSpPr>
          <p:cNvPr id="6" name="Shape 4"/>
          <p:cNvSpPr/>
          <p:nvPr/>
        </p:nvSpPr>
        <p:spPr>
          <a:xfrm>
            <a:off x="1554480" y="1371599"/>
            <a:ext cx="1097280" cy="2341085"/>
          </a:xfrm>
          <a:prstGeom prst="rect">
            <a:avLst/>
          </a:prstGeom>
          <a:solidFill>
            <a:srgbClr val="0E6060"/>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1554480" y="1793547"/>
            <a:ext cx="1097280" cy="12801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Feature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Engineering</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(ICD-9, meds)</a:t>
            </a:r>
            <a:endParaRPr lang="en-US" sz="950" dirty="0"/>
          </a:p>
        </p:txBody>
      </p:sp>
      <p:sp>
        <p:nvSpPr>
          <p:cNvPr id="8" name="Text 6"/>
          <p:cNvSpPr/>
          <p:nvPr/>
        </p:nvSpPr>
        <p:spPr>
          <a:xfrm>
            <a:off x="2606040" y="2135621"/>
            <a:ext cx="228600" cy="457200"/>
          </a:xfrm>
          <a:prstGeom prst="rect">
            <a:avLst/>
          </a:prstGeom>
          <a:noFill/>
          <a:ln/>
        </p:spPr>
        <p:txBody>
          <a:bodyPr wrap="square" rtlCol="0" anchor="ctr"/>
          <a:lstStyle/>
          <a:p>
            <a:pPr marL="0" indent="0" algn="ctr">
              <a:buNone/>
            </a:pPr>
            <a:r>
              <a:rPr lang="en-US" sz="1800" dirty="0">
                <a:solidFill>
                  <a:srgbClr val="00B4A6"/>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788920" y="1371599"/>
            <a:ext cx="1097280" cy="2341085"/>
          </a:xfrm>
          <a:prstGeom prst="rect">
            <a:avLst/>
          </a:prstGeom>
          <a:solidFill>
            <a:srgbClr val="0F7070"/>
          </a:solidFill>
          <a:ln/>
          <a:effectLst>
            <a:outerShdw blurRad="76200" dist="25400" dir="8100000" algn="bl" rotWithShape="0">
              <a:srgbClr val="000000">
                <a:alpha val="12000"/>
              </a:srgbClr>
            </a:outerShdw>
          </a:effectLst>
        </p:spPr>
        <p:txBody>
          <a:bodyPr/>
          <a:lstStyle/>
          <a:p>
            <a:endParaRPr lang="en-US"/>
          </a:p>
        </p:txBody>
      </p:sp>
      <p:sp>
        <p:nvSpPr>
          <p:cNvPr id="10" name="Text 8"/>
          <p:cNvSpPr/>
          <p:nvPr/>
        </p:nvSpPr>
        <p:spPr>
          <a:xfrm>
            <a:off x="2788920" y="1793547"/>
            <a:ext cx="1097280" cy="12801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Feature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Selection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(MI, PCA)</a:t>
            </a:r>
            <a:endParaRPr lang="en-US" sz="950" dirty="0"/>
          </a:p>
        </p:txBody>
      </p:sp>
      <p:sp>
        <p:nvSpPr>
          <p:cNvPr id="11" name="Text 9"/>
          <p:cNvSpPr/>
          <p:nvPr/>
        </p:nvSpPr>
        <p:spPr>
          <a:xfrm>
            <a:off x="3840480" y="2135621"/>
            <a:ext cx="228600" cy="457200"/>
          </a:xfrm>
          <a:prstGeom prst="rect">
            <a:avLst/>
          </a:prstGeom>
          <a:noFill/>
          <a:ln/>
        </p:spPr>
        <p:txBody>
          <a:bodyPr wrap="square" rtlCol="0" anchor="ctr"/>
          <a:lstStyle/>
          <a:p>
            <a:pPr marL="0" indent="0" algn="ctr">
              <a:buNone/>
            </a:pPr>
            <a:r>
              <a:rPr lang="en-US" sz="1800" dirty="0">
                <a:solidFill>
                  <a:srgbClr val="00B4A6"/>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4023360" y="1371599"/>
            <a:ext cx="1097280" cy="2341085"/>
          </a:xfrm>
          <a:prstGeom prst="rect">
            <a:avLst/>
          </a:prstGeom>
          <a:solidFill>
            <a:srgbClr val="108080"/>
          </a:solidFill>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4023360" y="1793547"/>
            <a:ext cx="1097280" cy="12801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Train/Test</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Grouped</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Split</a:t>
            </a:r>
            <a:endParaRPr lang="en-US" sz="950" dirty="0"/>
          </a:p>
        </p:txBody>
      </p:sp>
      <p:sp>
        <p:nvSpPr>
          <p:cNvPr id="14" name="Text 12"/>
          <p:cNvSpPr/>
          <p:nvPr/>
        </p:nvSpPr>
        <p:spPr>
          <a:xfrm>
            <a:off x="5074920" y="2135621"/>
            <a:ext cx="228600" cy="457200"/>
          </a:xfrm>
          <a:prstGeom prst="rect">
            <a:avLst/>
          </a:prstGeom>
          <a:noFill/>
          <a:ln/>
        </p:spPr>
        <p:txBody>
          <a:bodyPr wrap="square" rtlCol="0" anchor="ctr"/>
          <a:lstStyle/>
          <a:p>
            <a:pPr marL="0" indent="0" algn="ctr">
              <a:buNone/>
            </a:pPr>
            <a:r>
              <a:rPr lang="en-US" sz="1800" dirty="0">
                <a:solidFill>
                  <a:srgbClr val="00B4A6"/>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5257800" y="1371599"/>
            <a:ext cx="1097280" cy="2341085"/>
          </a:xfrm>
          <a:prstGeom prst="rect">
            <a:avLst/>
          </a:prstGeom>
          <a:solidFill>
            <a:srgbClr val="119090"/>
          </a:solidFill>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5257800" y="1793547"/>
            <a:ext cx="1097280" cy="12801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SOTA Models</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(LR, RF, XGB,</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LGBM, Stack)</a:t>
            </a:r>
            <a:endParaRPr lang="en-US" sz="950" dirty="0"/>
          </a:p>
        </p:txBody>
      </p:sp>
      <p:sp>
        <p:nvSpPr>
          <p:cNvPr id="17" name="Text 15"/>
          <p:cNvSpPr/>
          <p:nvPr/>
        </p:nvSpPr>
        <p:spPr>
          <a:xfrm>
            <a:off x="6309360" y="2135621"/>
            <a:ext cx="228600" cy="457200"/>
          </a:xfrm>
          <a:prstGeom prst="rect">
            <a:avLst/>
          </a:prstGeom>
          <a:noFill/>
          <a:ln/>
        </p:spPr>
        <p:txBody>
          <a:bodyPr wrap="square" rtlCol="0" anchor="ctr"/>
          <a:lstStyle/>
          <a:p>
            <a:pPr marL="0" indent="0" algn="ctr">
              <a:buNone/>
            </a:pPr>
            <a:r>
              <a:rPr lang="en-US" sz="1800" dirty="0">
                <a:solidFill>
                  <a:srgbClr val="00B4A6"/>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6492240" y="1371599"/>
            <a:ext cx="1097280" cy="2341085"/>
          </a:xfrm>
          <a:prstGeom prst="rect">
            <a:avLst/>
          </a:prstGeom>
          <a:solidFill>
            <a:srgbClr val="12A0A0"/>
          </a:solidFill>
          <a:ln/>
          <a:effectLst>
            <a:outerShdw blurRad="76200" dist="25400" dir="8100000" algn="bl" rotWithShape="0">
              <a:srgbClr val="000000">
                <a:alpha val="12000"/>
              </a:srgbClr>
            </a:outerShdw>
          </a:effectLst>
        </p:spPr>
        <p:txBody>
          <a:bodyPr/>
          <a:lstStyle/>
          <a:p>
            <a:endParaRPr lang="en-US"/>
          </a:p>
        </p:txBody>
      </p:sp>
      <p:sp>
        <p:nvSpPr>
          <p:cNvPr id="19" name="Text 17"/>
          <p:cNvSpPr/>
          <p:nvPr/>
        </p:nvSpPr>
        <p:spPr>
          <a:xfrm>
            <a:off x="6492240" y="1793547"/>
            <a:ext cx="1097280" cy="12801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Calibration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&amp; SHAP</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Explainability</a:t>
            </a:r>
            <a:endParaRPr lang="en-US" sz="950" dirty="0"/>
          </a:p>
        </p:txBody>
      </p:sp>
      <p:sp>
        <p:nvSpPr>
          <p:cNvPr id="20" name="Text 18"/>
          <p:cNvSpPr/>
          <p:nvPr/>
        </p:nvSpPr>
        <p:spPr>
          <a:xfrm>
            <a:off x="7543800" y="2135621"/>
            <a:ext cx="228600" cy="457200"/>
          </a:xfrm>
          <a:prstGeom prst="rect">
            <a:avLst/>
          </a:prstGeom>
          <a:noFill/>
          <a:ln/>
        </p:spPr>
        <p:txBody>
          <a:bodyPr wrap="square" rtlCol="0" anchor="ctr"/>
          <a:lstStyle/>
          <a:p>
            <a:pPr marL="0" indent="0" algn="ctr">
              <a:buNone/>
            </a:pPr>
            <a:r>
              <a:rPr lang="en-US" sz="1800" dirty="0">
                <a:solidFill>
                  <a:srgbClr val="00B4A6"/>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7726680" y="1371599"/>
            <a:ext cx="1097280" cy="2341085"/>
          </a:xfrm>
          <a:prstGeom prst="rect">
            <a:avLst/>
          </a:prstGeom>
          <a:solidFill>
            <a:srgbClr val="13B0B0"/>
          </a:solidFill>
          <a:ln/>
          <a:effectLst>
            <a:outerShdw blurRad="76200" dist="25400" dir="8100000" algn="bl" rotWithShape="0">
              <a:srgbClr val="000000">
                <a:alpha val="12000"/>
              </a:srgbClr>
            </a:outerShdw>
          </a:effectLst>
        </p:spPr>
        <p:txBody>
          <a:bodyPr/>
          <a:lstStyle/>
          <a:p>
            <a:endParaRPr lang="en-US"/>
          </a:p>
        </p:txBody>
      </p:sp>
      <p:sp>
        <p:nvSpPr>
          <p:cNvPr id="22" name="Text 20"/>
          <p:cNvSpPr/>
          <p:nvPr/>
        </p:nvSpPr>
        <p:spPr>
          <a:xfrm>
            <a:off x="7726680" y="1793547"/>
            <a:ext cx="1097280" cy="12801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Fairness</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Audit &amp;</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Outputs</a:t>
            </a:r>
            <a:endParaRPr lang="en-US" sz="95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Feature Engineering &amp; Selection</a:t>
            </a:r>
            <a:endParaRPr lang="en-US" sz="3600" dirty="0"/>
          </a:p>
        </p:txBody>
      </p:sp>
      <p:sp>
        <p:nvSpPr>
          <p:cNvPr id="3" name="Shape 1"/>
          <p:cNvSpPr/>
          <p:nvPr/>
        </p:nvSpPr>
        <p:spPr>
          <a:xfrm>
            <a:off x="640080" y="1234440"/>
            <a:ext cx="4114800"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640080" y="1234440"/>
            <a:ext cx="54864" cy="640080"/>
          </a:xfrm>
          <a:prstGeom prst="rect">
            <a:avLst/>
          </a:prstGeom>
          <a:solidFill>
            <a:srgbClr val="00B4A6"/>
          </a:solidFill>
          <a:ln/>
        </p:spPr>
        <p:txBody>
          <a:bodyPr/>
          <a:lstStyle/>
          <a:p>
            <a:endParaRPr lang="en-US"/>
          </a:p>
        </p:txBody>
      </p:sp>
      <p:sp>
        <p:nvSpPr>
          <p:cNvPr id="5" name="Text 3"/>
          <p:cNvSpPr/>
          <p:nvPr/>
        </p:nvSpPr>
        <p:spPr>
          <a:xfrm>
            <a:off x="868680" y="1261872"/>
            <a:ext cx="36576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ICD-9 Grouping</a:t>
            </a:r>
            <a:endParaRPr lang="en-US" sz="1300" dirty="0"/>
          </a:p>
        </p:txBody>
      </p:sp>
      <p:sp>
        <p:nvSpPr>
          <p:cNvPr id="6" name="Text 4"/>
          <p:cNvSpPr/>
          <p:nvPr/>
        </p:nvSpPr>
        <p:spPr>
          <a:xfrm>
            <a:off x="868680" y="1554480"/>
            <a:ext cx="3657600" cy="274320"/>
          </a:xfrm>
          <a:prstGeom prst="rect">
            <a:avLst/>
          </a:prstGeom>
          <a:noFill/>
          <a:ln/>
        </p:spPr>
        <p:txBody>
          <a:bodyPr wrap="square" lIns="0" tIns="0" rIns="0" bIns="0" rtlCol="0" anchor="ctr"/>
          <a:lstStyle/>
          <a:p>
            <a:pPr marL="0" indent="0">
              <a:buNone/>
            </a:pPr>
            <a:r>
              <a:rPr lang="en-US" sz="1100" dirty="0">
                <a:solidFill>
                  <a:srgbClr val="5A7A7A"/>
                </a:solidFill>
                <a:latin typeface="Calibri" pitchFamily="34" charset="0"/>
                <a:ea typeface="Calibri" pitchFamily="34" charset="-122"/>
                <a:cs typeface="Calibri" pitchFamily="34" charset="-120"/>
              </a:rPr>
              <a:t>500+ raw codes → 18 clinical categories</a:t>
            </a:r>
            <a:endParaRPr lang="en-US" sz="1100" dirty="0"/>
          </a:p>
        </p:txBody>
      </p:sp>
      <p:sp>
        <p:nvSpPr>
          <p:cNvPr id="7" name="Shape 5"/>
          <p:cNvSpPr/>
          <p:nvPr/>
        </p:nvSpPr>
        <p:spPr>
          <a:xfrm>
            <a:off x="640080" y="2011680"/>
            <a:ext cx="4114800"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Shape 6"/>
          <p:cNvSpPr/>
          <p:nvPr/>
        </p:nvSpPr>
        <p:spPr>
          <a:xfrm>
            <a:off x="640080" y="2011680"/>
            <a:ext cx="54864" cy="640080"/>
          </a:xfrm>
          <a:prstGeom prst="rect">
            <a:avLst/>
          </a:prstGeom>
          <a:solidFill>
            <a:srgbClr val="00B4A6"/>
          </a:solidFill>
          <a:ln/>
        </p:spPr>
        <p:txBody>
          <a:bodyPr/>
          <a:lstStyle/>
          <a:p>
            <a:endParaRPr lang="en-US"/>
          </a:p>
        </p:txBody>
      </p:sp>
      <p:sp>
        <p:nvSpPr>
          <p:cNvPr id="9" name="Text 7"/>
          <p:cNvSpPr/>
          <p:nvPr/>
        </p:nvSpPr>
        <p:spPr>
          <a:xfrm>
            <a:off x="868680" y="2039112"/>
            <a:ext cx="36576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Medication Aggregation</a:t>
            </a:r>
            <a:endParaRPr lang="en-US" sz="1300" dirty="0"/>
          </a:p>
        </p:txBody>
      </p:sp>
      <p:sp>
        <p:nvSpPr>
          <p:cNvPr id="10" name="Text 8"/>
          <p:cNvSpPr/>
          <p:nvPr/>
        </p:nvSpPr>
        <p:spPr>
          <a:xfrm>
            <a:off x="868680" y="2331720"/>
            <a:ext cx="3657600" cy="274320"/>
          </a:xfrm>
          <a:prstGeom prst="rect">
            <a:avLst/>
          </a:prstGeom>
          <a:noFill/>
          <a:ln/>
        </p:spPr>
        <p:txBody>
          <a:bodyPr wrap="square" lIns="0" tIns="0" rIns="0" bIns="0" rtlCol="0" anchor="ctr"/>
          <a:lstStyle/>
          <a:p>
            <a:pPr marL="0" indent="0">
              <a:buNone/>
            </a:pPr>
            <a:r>
              <a:rPr lang="en-US" sz="1100" dirty="0">
                <a:solidFill>
                  <a:srgbClr val="5A7A7A"/>
                </a:solidFill>
                <a:latin typeface="Calibri" pitchFamily="34" charset="0"/>
                <a:ea typeface="Calibri" pitchFamily="34" charset="-122"/>
                <a:cs typeface="Calibri" pitchFamily="34" charset="-120"/>
              </a:rPr>
              <a:t>23 med columns → active count + change indicators</a:t>
            </a:r>
            <a:endParaRPr lang="en-US" sz="1100" dirty="0"/>
          </a:p>
        </p:txBody>
      </p:sp>
      <p:sp>
        <p:nvSpPr>
          <p:cNvPr id="11" name="Shape 9"/>
          <p:cNvSpPr/>
          <p:nvPr/>
        </p:nvSpPr>
        <p:spPr>
          <a:xfrm>
            <a:off x="640080" y="2788920"/>
            <a:ext cx="4114800"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10"/>
          <p:cNvSpPr/>
          <p:nvPr/>
        </p:nvSpPr>
        <p:spPr>
          <a:xfrm>
            <a:off x="640080" y="2788920"/>
            <a:ext cx="54864" cy="640080"/>
          </a:xfrm>
          <a:prstGeom prst="rect">
            <a:avLst/>
          </a:prstGeom>
          <a:solidFill>
            <a:srgbClr val="00B4A6"/>
          </a:solidFill>
          <a:ln/>
        </p:spPr>
        <p:txBody>
          <a:bodyPr/>
          <a:lstStyle/>
          <a:p>
            <a:endParaRPr lang="en-US"/>
          </a:p>
        </p:txBody>
      </p:sp>
      <p:sp>
        <p:nvSpPr>
          <p:cNvPr id="13" name="Text 11"/>
          <p:cNvSpPr/>
          <p:nvPr/>
        </p:nvSpPr>
        <p:spPr>
          <a:xfrm>
            <a:off x="868680" y="2816352"/>
            <a:ext cx="36576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Derived Features</a:t>
            </a:r>
            <a:endParaRPr lang="en-US" sz="1300" dirty="0"/>
          </a:p>
        </p:txBody>
      </p:sp>
      <p:sp>
        <p:nvSpPr>
          <p:cNvPr id="14" name="Text 12"/>
          <p:cNvSpPr/>
          <p:nvPr/>
        </p:nvSpPr>
        <p:spPr>
          <a:xfrm>
            <a:off x="868680" y="3108960"/>
            <a:ext cx="3657600" cy="274320"/>
          </a:xfrm>
          <a:prstGeom prst="rect">
            <a:avLst/>
          </a:prstGeom>
          <a:noFill/>
          <a:ln/>
        </p:spPr>
        <p:txBody>
          <a:bodyPr wrap="square" lIns="0" tIns="0" rIns="0" bIns="0" rtlCol="0" anchor="ctr"/>
          <a:lstStyle/>
          <a:p>
            <a:pPr marL="0" indent="0">
              <a:buNone/>
            </a:pPr>
            <a:r>
              <a:rPr lang="en-US" sz="1100" dirty="0">
                <a:solidFill>
                  <a:srgbClr val="5A7A7A"/>
                </a:solidFill>
                <a:latin typeface="Calibri" pitchFamily="34" charset="0"/>
                <a:ea typeface="Calibri" pitchFamily="34" charset="-122"/>
                <a:cs typeface="Calibri" pitchFamily="34" charset="-120"/>
              </a:rPr>
              <a:t>total_visits, high_utilizer, many_meds, poly_visits</a:t>
            </a:r>
            <a:endParaRPr lang="en-US" sz="1100" dirty="0"/>
          </a:p>
        </p:txBody>
      </p:sp>
      <p:sp>
        <p:nvSpPr>
          <p:cNvPr id="15" name="Shape 13"/>
          <p:cNvSpPr/>
          <p:nvPr/>
        </p:nvSpPr>
        <p:spPr>
          <a:xfrm>
            <a:off x="640080" y="3566160"/>
            <a:ext cx="4114800"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Shape 14"/>
          <p:cNvSpPr/>
          <p:nvPr/>
        </p:nvSpPr>
        <p:spPr>
          <a:xfrm>
            <a:off x="640080" y="3566160"/>
            <a:ext cx="54864" cy="640080"/>
          </a:xfrm>
          <a:prstGeom prst="rect">
            <a:avLst/>
          </a:prstGeom>
          <a:solidFill>
            <a:srgbClr val="00B4A6"/>
          </a:solidFill>
          <a:ln/>
        </p:spPr>
        <p:txBody>
          <a:bodyPr/>
          <a:lstStyle/>
          <a:p>
            <a:endParaRPr lang="en-US"/>
          </a:p>
        </p:txBody>
      </p:sp>
      <p:sp>
        <p:nvSpPr>
          <p:cNvPr id="17" name="Text 15"/>
          <p:cNvSpPr/>
          <p:nvPr/>
        </p:nvSpPr>
        <p:spPr>
          <a:xfrm>
            <a:off x="868680" y="3593592"/>
            <a:ext cx="36576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Encoding</a:t>
            </a:r>
            <a:endParaRPr lang="en-US" sz="1300" dirty="0"/>
          </a:p>
        </p:txBody>
      </p:sp>
      <p:sp>
        <p:nvSpPr>
          <p:cNvPr id="18" name="Text 16"/>
          <p:cNvSpPr/>
          <p:nvPr/>
        </p:nvSpPr>
        <p:spPr>
          <a:xfrm>
            <a:off x="868680" y="3886200"/>
            <a:ext cx="3657600" cy="274320"/>
          </a:xfrm>
          <a:prstGeom prst="rect">
            <a:avLst/>
          </a:prstGeom>
          <a:noFill/>
          <a:ln/>
        </p:spPr>
        <p:txBody>
          <a:bodyPr wrap="square" lIns="0" tIns="0" rIns="0" bIns="0" rtlCol="0" anchor="ctr"/>
          <a:lstStyle/>
          <a:p>
            <a:pPr marL="0" indent="0">
              <a:buNone/>
            </a:pPr>
            <a:r>
              <a:rPr lang="en-US" sz="1100" dirty="0">
                <a:solidFill>
                  <a:srgbClr val="5A7A7A"/>
                </a:solidFill>
                <a:latin typeface="Calibri" pitchFamily="34" charset="0"/>
                <a:ea typeface="Calibri" pitchFamily="34" charset="-122"/>
                <a:cs typeface="Calibri" pitchFamily="34" charset="-120"/>
              </a:rPr>
              <a:t>One-hot for categoricals, ordinal for age bands</a:t>
            </a:r>
            <a:endParaRPr lang="en-US" sz="1100" dirty="0"/>
          </a:p>
        </p:txBody>
      </p:sp>
      <p:sp>
        <p:nvSpPr>
          <p:cNvPr id="19" name="Text 17"/>
          <p:cNvSpPr/>
          <p:nvPr/>
        </p:nvSpPr>
        <p:spPr>
          <a:xfrm>
            <a:off x="5120640" y="1097280"/>
            <a:ext cx="3657600" cy="320040"/>
          </a:xfrm>
          <a:prstGeom prst="rect">
            <a:avLst/>
          </a:prstGeom>
          <a:noFill/>
          <a:ln/>
        </p:spPr>
        <p:txBody>
          <a:bodyPr wrap="square" lIns="0" tIns="0" rIns="0" bIns="0" rtlCol="0" anchor="ctr"/>
          <a:lstStyle/>
          <a:p>
            <a:pPr marL="0" indent="0">
              <a:buNone/>
            </a:pPr>
            <a:r>
              <a:rPr lang="en-US" sz="1600" b="1" dirty="0">
                <a:solidFill>
                  <a:srgbClr val="1A2F2F"/>
                </a:solidFill>
                <a:latin typeface="Georgia" pitchFamily="34" charset="0"/>
                <a:ea typeface="Georgia" pitchFamily="34" charset="-122"/>
                <a:cs typeface="Georgia" pitchFamily="34" charset="-120"/>
              </a:rPr>
              <a:t>Feature Selection</a:t>
            </a:r>
            <a:endParaRPr lang="en-US" sz="1600" dirty="0"/>
          </a:p>
        </p:txBody>
      </p:sp>
      <p:sp>
        <p:nvSpPr>
          <p:cNvPr id="20" name="Text 18"/>
          <p:cNvSpPr/>
          <p:nvPr/>
        </p:nvSpPr>
        <p:spPr>
          <a:xfrm>
            <a:off x="5120640" y="1508760"/>
            <a:ext cx="3657600" cy="1645920"/>
          </a:xfrm>
          <a:prstGeom prst="rect">
            <a:avLst/>
          </a:prstGeom>
          <a:noFill/>
          <a:ln/>
        </p:spPr>
        <p:txBody>
          <a:bodyPr wrap="square" lIns="0" tIns="0" rIns="0" bIns="0" rtlCol="0" anchor="ctr"/>
          <a:lstStyle/>
          <a:p>
            <a:pPr marL="342900" indent="-342900">
              <a:buSzPct val="100000"/>
              <a:buChar char="•"/>
            </a:pPr>
            <a:r>
              <a:rPr lang="en-US" sz="1200" dirty="0">
                <a:solidFill>
                  <a:srgbClr val="1A2F2F"/>
                </a:solidFill>
                <a:latin typeface="Calibri" pitchFamily="34" charset="0"/>
                <a:ea typeface="Calibri" pitchFamily="34" charset="-122"/>
                <a:cs typeface="Calibri" pitchFamily="34" charset="-120"/>
              </a:rPr>
              <a:t>Zero-variance removal</a:t>
            </a:r>
            <a:endParaRPr lang="en-US" sz="1200" dirty="0"/>
          </a:p>
          <a:p>
            <a:pPr marL="342900" indent="-342900">
              <a:buSzPct val="100000"/>
              <a:buChar char="•"/>
            </a:pPr>
            <a:r>
              <a:rPr lang="en-US" sz="1200" dirty="0">
                <a:solidFill>
                  <a:srgbClr val="1A2F2F"/>
                </a:solidFill>
                <a:latin typeface="Calibri" pitchFamily="34" charset="0"/>
                <a:ea typeface="Calibri" pitchFamily="34" charset="-122"/>
                <a:cs typeface="Calibri" pitchFamily="34" charset="-120"/>
              </a:rPr>
              <a:t>Correlation filtering (|r| &gt; 0.85)</a:t>
            </a:r>
            <a:endParaRPr lang="en-US" sz="1200" dirty="0"/>
          </a:p>
          <a:p>
            <a:pPr marL="342900" indent="-342900">
              <a:buSzPct val="100000"/>
              <a:buChar char="•"/>
            </a:pPr>
            <a:r>
              <a:rPr lang="en-US" sz="1200" dirty="0">
                <a:solidFill>
                  <a:srgbClr val="1A2F2F"/>
                </a:solidFill>
                <a:latin typeface="Calibri" pitchFamily="34" charset="0"/>
                <a:ea typeface="Calibri" pitchFamily="34" charset="-122"/>
                <a:cs typeface="Calibri" pitchFamily="34" charset="-120"/>
              </a:rPr>
              <a:t>Mutual Information scoring</a:t>
            </a:r>
            <a:endParaRPr lang="en-US" sz="1200" dirty="0"/>
          </a:p>
          <a:p>
            <a:pPr marL="342900" indent="-342900">
              <a:buSzPct val="100000"/>
              <a:buChar char="•"/>
            </a:pPr>
            <a:r>
              <a:rPr lang="en-US" sz="1200" dirty="0">
                <a:solidFill>
                  <a:srgbClr val="1A2F2F"/>
                </a:solidFill>
                <a:latin typeface="Calibri" pitchFamily="34" charset="0"/>
                <a:ea typeface="Calibri" pitchFamily="34" charset="-122"/>
                <a:cs typeface="Calibri" pitchFamily="34" charset="-120"/>
              </a:rPr>
              <a:t>PCA 2D visualization</a:t>
            </a:r>
            <a:endParaRPr lang="en-US" sz="1200" dirty="0"/>
          </a:p>
        </p:txBody>
      </p:sp>
      <p:pic>
        <p:nvPicPr>
          <p:cNvPr id="21" name="Image 0" descr="preencoded.png"/>
          <p:cNvPicPr>
            <a:picLocks noChangeAspect="1"/>
          </p:cNvPicPr>
          <p:nvPr/>
        </p:nvPicPr>
        <p:blipFill>
          <a:blip r:embed="rId3"/>
          <a:stretch>
            <a:fillRect/>
          </a:stretch>
        </p:blipFill>
        <p:spPr>
          <a:xfrm>
            <a:off x="5029200" y="3017520"/>
            <a:ext cx="3749040" cy="1920240"/>
          </a:xfrm>
          <a:prstGeom prst="rect">
            <a:avLst/>
          </a:prstGeom>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Modeling Approach</a:t>
            </a:r>
            <a:endParaRPr lang="en-US" sz="3600" dirty="0"/>
          </a:p>
        </p:txBody>
      </p:sp>
      <p:sp>
        <p:nvSpPr>
          <p:cNvPr id="3" name="Text 1"/>
          <p:cNvSpPr/>
          <p:nvPr/>
        </p:nvSpPr>
        <p:spPr>
          <a:xfrm>
            <a:off x="640080" y="914400"/>
            <a:ext cx="7315200" cy="365760"/>
          </a:xfrm>
          <a:prstGeom prst="rect">
            <a:avLst/>
          </a:prstGeom>
          <a:noFill/>
          <a:ln/>
        </p:spPr>
        <p:txBody>
          <a:bodyPr wrap="square" lIns="0" tIns="0" rIns="0" bIns="0" rtlCol="0" anchor="ctr"/>
          <a:lstStyle/>
          <a:p>
            <a:pPr marL="0" indent="0">
              <a:buNone/>
            </a:pPr>
            <a:r>
              <a:rPr lang="en-US" sz="1300" dirty="0">
                <a:solidFill>
                  <a:srgbClr val="5A7A7A"/>
                </a:solidFill>
                <a:latin typeface="Calibri" pitchFamily="34" charset="0"/>
                <a:ea typeface="Calibri" pitchFamily="34" charset="-122"/>
                <a:cs typeface="Calibri" pitchFamily="34" charset="-120"/>
              </a:rPr>
              <a:t>Binary classification producing risk probabilities, risk tiers, and a top-K outreach list.</a:t>
            </a:r>
            <a:endParaRPr lang="en-US" sz="1300" dirty="0"/>
          </a:p>
        </p:txBody>
      </p:sp>
      <p:sp>
        <p:nvSpPr>
          <p:cNvPr id="4" name="Shape 2"/>
          <p:cNvSpPr/>
          <p:nvPr/>
        </p:nvSpPr>
        <p:spPr>
          <a:xfrm>
            <a:off x="457200" y="1463040"/>
            <a:ext cx="1554480" cy="2011680"/>
          </a:xfrm>
          <a:prstGeom prst="rect">
            <a:avLst/>
          </a:prstGeom>
          <a:solidFill>
            <a:srgbClr val="5A7A7A"/>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457200" y="1554480"/>
            <a:ext cx="1554480" cy="274320"/>
          </a:xfrm>
          <a:prstGeom prst="rect">
            <a:avLst/>
          </a:prstGeom>
          <a:noFill/>
          <a:ln/>
        </p:spPr>
        <p:txBody>
          <a:bodyPr wrap="square" rtlCol="0" anchor="ctr"/>
          <a:lstStyle/>
          <a:p>
            <a:pPr marL="0" indent="0" algn="ctr">
              <a:buNone/>
            </a:pPr>
            <a:r>
              <a:rPr lang="en-US" sz="900" b="1" dirty="0">
                <a:solidFill>
                  <a:srgbClr val="00D4AA"/>
                </a:solidFill>
                <a:latin typeface="Calibri" pitchFamily="34" charset="0"/>
                <a:ea typeface="Calibri" pitchFamily="34" charset="-122"/>
                <a:cs typeface="Calibri" pitchFamily="34" charset="-120"/>
              </a:rPr>
              <a:t>BASELINE</a:t>
            </a:r>
            <a:endParaRPr lang="en-US" sz="900" dirty="0"/>
          </a:p>
        </p:txBody>
      </p:sp>
      <p:sp>
        <p:nvSpPr>
          <p:cNvPr id="6" name="Text 4"/>
          <p:cNvSpPr/>
          <p:nvPr/>
        </p:nvSpPr>
        <p:spPr>
          <a:xfrm>
            <a:off x="457200" y="1874520"/>
            <a:ext cx="155448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Logistic</a:t>
            </a:r>
            <a:endParaRPr lang="en-US" sz="1400" dirty="0"/>
          </a:p>
          <a:p>
            <a:pPr marL="0" indent="0" algn="ctr">
              <a:buNone/>
            </a:pPr>
            <a:r>
              <a:rPr lang="en-US" sz="1400" b="1" dirty="0">
                <a:solidFill>
                  <a:srgbClr val="FFFFFF"/>
                </a:solidFill>
                <a:latin typeface="Georgia" pitchFamily="34" charset="0"/>
                <a:ea typeface="Georgia" pitchFamily="34" charset="-122"/>
                <a:cs typeface="Georgia" pitchFamily="34" charset="-120"/>
              </a:rPr>
              <a:t>Regression</a:t>
            </a:r>
            <a:endParaRPr lang="en-US" sz="1400" dirty="0"/>
          </a:p>
        </p:txBody>
      </p:sp>
      <p:sp>
        <p:nvSpPr>
          <p:cNvPr id="7" name="Text 5"/>
          <p:cNvSpPr/>
          <p:nvPr/>
        </p:nvSpPr>
        <p:spPr>
          <a:xfrm>
            <a:off x="457200" y="2606040"/>
            <a:ext cx="1554480" cy="640080"/>
          </a:xfrm>
          <a:prstGeom prst="rect">
            <a:avLst/>
          </a:prstGeom>
          <a:noFill/>
          <a:ln/>
        </p:spPr>
        <p:txBody>
          <a:bodyPr wrap="square" rtlCol="0" anchor="ctr"/>
          <a:lstStyle/>
          <a:p>
            <a:pPr marL="0" indent="0" algn="ctr">
              <a:buNone/>
            </a:pPr>
            <a:r>
              <a:rPr lang="en-US" sz="1000" dirty="0">
                <a:solidFill>
                  <a:srgbClr val="E8F0EE"/>
                </a:solidFill>
                <a:latin typeface="Calibri" pitchFamily="34" charset="0"/>
                <a:ea typeface="Calibri" pitchFamily="34" charset="-122"/>
                <a:cs typeface="Calibri" pitchFamily="34" charset="-120"/>
              </a:rPr>
              <a:t>Fast, stable,</a:t>
            </a:r>
            <a:endParaRPr lang="en-US" sz="1000" dirty="0"/>
          </a:p>
          <a:p>
            <a:pPr marL="0" indent="0" algn="ctr">
              <a:buNone/>
            </a:pPr>
            <a:r>
              <a:rPr lang="en-US" sz="1000" dirty="0">
                <a:solidFill>
                  <a:srgbClr val="E8F0EE"/>
                </a:solidFill>
                <a:latin typeface="Calibri" pitchFamily="34" charset="0"/>
                <a:ea typeface="Calibri" pitchFamily="34" charset="-122"/>
                <a:cs typeface="Calibri" pitchFamily="34" charset="-120"/>
              </a:rPr>
              <a:t>interpretable</a:t>
            </a:r>
            <a:endParaRPr lang="en-US" sz="1000" dirty="0"/>
          </a:p>
        </p:txBody>
      </p:sp>
      <p:sp>
        <p:nvSpPr>
          <p:cNvPr id="8" name="Shape 6"/>
          <p:cNvSpPr/>
          <p:nvPr/>
        </p:nvSpPr>
        <p:spPr>
          <a:xfrm>
            <a:off x="2194560" y="1463040"/>
            <a:ext cx="1554480" cy="2011680"/>
          </a:xfrm>
          <a:prstGeom prst="rect">
            <a:avLst/>
          </a:prstGeom>
          <a:solidFill>
            <a:srgbClr val="3A6A6A"/>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2194560" y="1554480"/>
            <a:ext cx="1554480" cy="274320"/>
          </a:xfrm>
          <a:prstGeom prst="rect">
            <a:avLst/>
          </a:prstGeom>
          <a:noFill/>
          <a:ln/>
        </p:spPr>
        <p:txBody>
          <a:bodyPr wrap="square" rtlCol="0" anchor="ctr"/>
          <a:lstStyle/>
          <a:p>
            <a:pPr marL="0" indent="0" algn="ctr">
              <a:buNone/>
            </a:pPr>
            <a:r>
              <a:rPr lang="en-US" sz="900" b="1" dirty="0">
                <a:solidFill>
                  <a:srgbClr val="00D4AA"/>
                </a:solidFill>
                <a:latin typeface="Calibri" pitchFamily="34" charset="0"/>
                <a:ea typeface="Calibri" pitchFamily="34" charset="-122"/>
                <a:cs typeface="Calibri" pitchFamily="34" charset="-120"/>
              </a:rPr>
              <a:t>ROBUST</a:t>
            </a:r>
            <a:endParaRPr lang="en-US" sz="900" dirty="0"/>
          </a:p>
        </p:txBody>
      </p:sp>
      <p:sp>
        <p:nvSpPr>
          <p:cNvPr id="10" name="Text 8"/>
          <p:cNvSpPr/>
          <p:nvPr/>
        </p:nvSpPr>
        <p:spPr>
          <a:xfrm>
            <a:off x="2194560" y="1874520"/>
            <a:ext cx="155448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Random</a:t>
            </a:r>
            <a:endParaRPr lang="en-US" sz="1400" dirty="0"/>
          </a:p>
          <a:p>
            <a:pPr marL="0" indent="0" algn="ctr">
              <a:buNone/>
            </a:pPr>
            <a:r>
              <a:rPr lang="en-US" sz="1400" b="1" dirty="0">
                <a:solidFill>
                  <a:srgbClr val="FFFFFF"/>
                </a:solidFill>
                <a:latin typeface="Georgia" pitchFamily="34" charset="0"/>
                <a:ea typeface="Georgia" pitchFamily="34" charset="-122"/>
                <a:cs typeface="Georgia" pitchFamily="34" charset="-120"/>
              </a:rPr>
              <a:t>Forest</a:t>
            </a:r>
            <a:endParaRPr lang="en-US" sz="1400" dirty="0"/>
          </a:p>
        </p:txBody>
      </p:sp>
      <p:sp>
        <p:nvSpPr>
          <p:cNvPr id="11" name="Text 9"/>
          <p:cNvSpPr/>
          <p:nvPr/>
        </p:nvSpPr>
        <p:spPr>
          <a:xfrm>
            <a:off x="2194560" y="2606040"/>
            <a:ext cx="1554480" cy="640080"/>
          </a:xfrm>
          <a:prstGeom prst="rect">
            <a:avLst/>
          </a:prstGeom>
          <a:noFill/>
          <a:ln/>
        </p:spPr>
        <p:txBody>
          <a:bodyPr wrap="square" rtlCol="0" anchor="ctr"/>
          <a:lstStyle/>
          <a:p>
            <a:pPr marL="0" indent="0" algn="ctr">
              <a:buNone/>
            </a:pPr>
            <a:r>
              <a:rPr lang="en-US" sz="1000" dirty="0">
                <a:solidFill>
                  <a:srgbClr val="E8F0EE"/>
                </a:solidFill>
                <a:latin typeface="Calibri" pitchFamily="34" charset="0"/>
                <a:ea typeface="Calibri" pitchFamily="34" charset="-122"/>
                <a:cs typeface="Calibri" pitchFamily="34" charset="-120"/>
              </a:rPr>
              <a:t>Handles</a:t>
            </a:r>
            <a:endParaRPr lang="en-US" sz="1000" dirty="0"/>
          </a:p>
          <a:p>
            <a:pPr marL="0" indent="0" algn="ctr">
              <a:buNone/>
            </a:pPr>
            <a:r>
              <a:rPr lang="en-US" sz="1000" dirty="0">
                <a:solidFill>
                  <a:srgbClr val="E8F0EE"/>
                </a:solidFill>
                <a:latin typeface="Calibri" pitchFamily="34" charset="0"/>
                <a:ea typeface="Calibri" pitchFamily="34" charset="-122"/>
                <a:cs typeface="Calibri" pitchFamily="34" charset="-120"/>
              </a:rPr>
              <a:t>nonlinearities</a:t>
            </a:r>
            <a:endParaRPr lang="en-US" sz="1000" dirty="0"/>
          </a:p>
        </p:txBody>
      </p:sp>
      <p:sp>
        <p:nvSpPr>
          <p:cNvPr id="12" name="Shape 10"/>
          <p:cNvSpPr/>
          <p:nvPr/>
        </p:nvSpPr>
        <p:spPr>
          <a:xfrm>
            <a:off x="3931920" y="1463040"/>
            <a:ext cx="1554480" cy="2011680"/>
          </a:xfrm>
          <a:prstGeom prst="rect">
            <a:avLst/>
          </a:prstGeom>
          <a:solidFill>
            <a:srgbClr val="0D4F4F"/>
          </a:solidFill>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3931920" y="1554480"/>
            <a:ext cx="1554480" cy="274320"/>
          </a:xfrm>
          <a:prstGeom prst="rect">
            <a:avLst/>
          </a:prstGeom>
          <a:noFill/>
          <a:ln/>
        </p:spPr>
        <p:txBody>
          <a:bodyPr wrap="square" rtlCol="0" anchor="ctr"/>
          <a:lstStyle/>
          <a:p>
            <a:pPr marL="0" indent="0" algn="ctr">
              <a:buNone/>
            </a:pPr>
            <a:r>
              <a:rPr lang="en-US" sz="900" b="1" dirty="0">
                <a:solidFill>
                  <a:srgbClr val="00D4AA"/>
                </a:solidFill>
                <a:latin typeface="Calibri" pitchFamily="34" charset="0"/>
                <a:ea typeface="Calibri" pitchFamily="34" charset="-122"/>
                <a:cs typeface="Calibri" pitchFamily="34" charset="-120"/>
              </a:rPr>
              <a:t>PRIMARY</a:t>
            </a:r>
            <a:endParaRPr lang="en-US" sz="900" dirty="0"/>
          </a:p>
        </p:txBody>
      </p:sp>
      <p:sp>
        <p:nvSpPr>
          <p:cNvPr id="14" name="Text 12"/>
          <p:cNvSpPr/>
          <p:nvPr/>
        </p:nvSpPr>
        <p:spPr>
          <a:xfrm>
            <a:off x="3931920" y="1874520"/>
            <a:ext cx="155448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XGBoost</a:t>
            </a:r>
            <a:endParaRPr lang="en-US" sz="1400" dirty="0"/>
          </a:p>
        </p:txBody>
      </p:sp>
      <p:sp>
        <p:nvSpPr>
          <p:cNvPr id="15" name="Text 13"/>
          <p:cNvSpPr/>
          <p:nvPr/>
        </p:nvSpPr>
        <p:spPr>
          <a:xfrm>
            <a:off x="3931920" y="2606040"/>
            <a:ext cx="1554480" cy="640080"/>
          </a:xfrm>
          <a:prstGeom prst="rect">
            <a:avLst/>
          </a:prstGeom>
          <a:noFill/>
          <a:ln/>
        </p:spPr>
        <p:txBody>
          <a:bodyPr wrap="square" rtlCol="0" anchor="ctr"/>
          <a:lstStyle/>
          <a:p>
            <a:pPr marL="0" indent="0" algn="ctr">
              <a:buNone/>
            </a:pPr>
            <a:r>
              <a:rPr lang="en-US" sz="1000" dirty="0">
                <a:solidFill>
                  <a:srgbClr val="E8F0EE"/>
                </a:solidFill>
                <a:latin typeface="Calibri" pitchFamily="34" charset="0"/>
                <a:ea typeface="Calibri" pitchFamily="34" charset="-122"/>
                <a:cs typeface="Calibri" pitchFamily="34" charset="-120"/>
              </a:rPr>
              <a:t>Top tabular</a:t>
            </a:r>
            <a:endParaRPr lang="en-US" sz="1000" dirty="0"/>
          </a:p>
          <a:p>
            <a:pPr marL="0" indent="0" algn="ctr">
              <a:buNone/>
            </a:pPr>
            <a:r>
              <a:rPr lang="en-US" sz="1000" dirty="0">
                <a:solidFill>
                  <a:srgbClr val="E8F0EE"/>
                </a:solidFill>
                <a:latin typeface="Calibri" pitchFamily="34" charset="0"/>
                <a:ea typeface="Calibri" pitchFamily="34" charset="-122"/>
                <a:cs typeface="Calibri" pitchFamily="34" charset="-120"/>
              </a:rPr>
              <a:t>performer</a:t>
            </a:r>
            <a:endParaRPr lang="en-US" sz="1000" dirty="0"/>
          </a:p>
        </p:txBody>
      </p:sp>
      <p:sp>
        <p:nvSpPr>
          <p:cNvPr id="16" name="Shape 14"/>
          <p:cNvSpPr/>
          <p:nvPr/>
        </p:nvSpPr>
        <p:spPr>
          <a:xfrm>
            <a:off x="5669280" y="1463040"/>
            <a:ext cx="1554480" cy="2011680"/>
          </a:xfrm>
          <a:prstGeom prst="rect">
            <a:avLst/>
          </a:prstGeom>
          <a:solidFill>
            <a:srgbClr val="0D4F4F"/>
          </a:solidFill>
          <a:ln/>
          <a:effectLst>
            <a:outerShdw blurRad="76200" dist="25400" dir="8100000" algn="bl" rotWithShape="0">
              <a:srgbClr val="000000">
                <a:alpha val="12000"/>
              </a:srgbClr>
            </a:outerShdw>
          </a:effectLst>
        </p:spPr>
        <p:txBody>
          <a:bodyPr/>
          <a:lstStyle/>
          <a:p>
            <a:endParaRPr lang="en-US"/>
          </a:p>
        </p:txBody>
      </p:sp>
      <p:sp>
        <p:nvSpPr>
          <p:cNvPr id="17" name="Text 15"/>
          <p:cNvSpPr/>
          <p:nvPr/>
        </p:nvSpPr>
        <p:spPr>
          <a:xfrm>
            <a:off x="5669280" y="1554480"/>
            <a:ext cx="1554480" cy="274320"/>
          </a:xfrm>
          <a:prstGeom prst="rect">
            <a:avLst/>
          </a:prstGeom>
          <a:noFill/>
          <a:ln/>
        </p:spPr>
        <p:txBody>
          <a:bodyPr wrap="square" rtlCol="0" anchor="ctr"/>
          <a:lstStyle/>
          <a:p>
            <a:pPr marL="0" indent="0" algn="ctr">
              <a:buNone/>
            </a:pPr>
            <a:r>
              <a:rPr lang="en-US" sz="900" b="1" dirty="0">
                <a:solidFill>
                  <a:srgbClr val="00D4AA"/>
                </a:solidFill>
                <a:latin typeface="Calibri" pitchFamily="34" charset="0"/>
                <a:ea typeface="Calibri" pitchFamily="34" charset="-122"/>
                <a:cs typeface="Calibri" pitchFamily="34" charset="-120"/>
              </a:rPr>
              <a:t>PRIMARY</a:t>
            </a:r>
            <a:endParaRPr lang="en-US" sz="900" dirty="0"/>
          </a:p>
        </p:txBody>
      </p:sp>
      <p:sp>
        <p:nvSpPr>
          <p:cNvPr id="18" name="Text 16"/>
          <p:cNvSpPr/>
          <p:nvPr/>
        </p:nvSpPr>
        <p:spPr>
          <a:xfrm>
            <a:off x="5669280" y="1874520"/>
            <a:ext cx="155448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LightGBM</a:t>
            </a:r>
            <a:endParaRPr lang="en-US" sz="1400" dirty="0"/>
          </a:p>
        </p:txBody>
      </p:sp>
      <p:sp>
        <p:nvSpPr>
          <p:cNvPr id="19" name="Text 17"/>
          <p:cNvSpPr/>
          <p:nvPr/>
        </p:nvSpPr>
        <p:spPr>
          <a:xfrm>
            <a:off x="5669280" y="2606040"/>
            <a:ext cx="1554480" cy="640080"/>
          </a:xfrm>
          <a:prstGeom prst="rect">
            <a:avLst/>
          </a:prstGeom>
          <a:noFill/>
          <a:ln/>
        </p:spPr>
        <p:txBody>
          <a:bodyPr wrap="square" rtlCol="0" anchor="ctr"/>
          <a:lstStyle/>
          <a:p>
            <a:pPr marL="0" indent="0" algn="ctr">
              <a:buNone/>
            </a:pPr>
            <a:r>
              <a:rPr lang="en-US" sz="1000" dirty="0">
                <a:solidFill>
                  <a:srgbClr val="E8F0EE"/>
                </a:solidFill>
                <a:latin typeface="Calibri" pitchFamily="34" charset="0"/>
                <a:ea typeface="Calibri" pitchFamily="34" charset="-122"/>
                <a:cs typeface="Calibri" pitchFamily="34" charset="-120"/>
              </a:rPr>
              <a:t>Fast gradient</a:t>
            </a:r>
            <a:endParaRPr lang="en-US" sz="1000" dirty="0"/>
          </a:p>
          <a:p>
            <a:pPr marL="0" indent="0" algn="ctr">
              <a:buNone/>
            </a:pPr>
            <a:r>
              <a:rPr lang="en-US" sz="1000" dirty="0">
                <a:solidFill>
                  <a:srgbClr val="E8F0EE"/>
                </a:solidFill>
                <a:latin typeface="Calibri" pitchFamily="34" charset="0"/>
                <a:ea typeface="Calibri" pitchFamily="34" charset="-122"/>
                <a:cs typeface="Calibri" pitchFamily="34" charset="-120"/>
              </a:rPr>
              <a:t>boosting</a:t>
            </a:r>
            <a:endParaRPr lang="en-US" sz="1000" dirty="0"/>
          </a:p>
        </p:txBody>
      </p:sp>
      <p:sp>
        <p:nvSpPr>
          <p:cNvPr id="20" name="Shape 18"/>
          <p:cNvSpPr/>
          <p:nvPr/>
        </p:nvSpPr>
        <p:spPr>
          <a:xfrm>
            <a:off x="7406640" y="1463040"/>
            <a:ext cx="1554480" cy="2011680"/>
          </a:xfrm>
          <a:prstGeom prst="rect">
            <a:avLst/>
          </a:prstGeom>
          <a:solidFill>
            <a:srgbClr val="0D3535"/>
          </a:solidFill>
          <a:ln/>
          <a:effectLst>
            <a:outerShdw blurRad="76200" dist="25400" dir="8100000" algn="bl" rotWithShape="0">
              <a:srgbClr val="000000">
                <a:alpha val="12000"/>
              </a:srgbClr>
            </a:outerShdw>
          </a:effectLst>
        </p:spPr>
        <p:txBody>
          <a:bodyPr/>
          <a:lstStyle/>
          <a:p>
            <a:endParaRPr lang="en-US"/>
          </a:p>
        </p:txBody>
      </p:sp>
      <p:sp>
        <p:nvSpPr>
          <p:cNvPr id="21" name="Text 19"/>
          <p:cNvSpPr/>
          <p:nvPr/>
        </p:nvSpPr>
        <p:spPr>
          <a:xfrm>
            <a:off x="7406640" y="1554480"/>
            <a:ext cx="1554480" cy="274320"/>
          </a:xfrm>
          <a:prstGeom prst="rect">
            <a:avLst/>
          </a:prstGeom>
          <a:noFill/>
          <a:ln/>
        </p:spPr>
        <p:txBody>
          <a:bodyPr wrap="square" rtlCol="0" anchor="ctr"/>
          <a:lstStyle/>
          <a:p>
            <a:pPr marL="0" indent="0" algn="ctr">
              <a:buNone/>
            </a:pPr>
            <a:r>
              <a:rPr lang="en-US" sz="900" b="1" dirty="0">
                <a:solidFill>
                  <a:srgbClr val="00D4AA"/>
                </a:solidFill>
                <a:latin typeface="Calibri" pitchFamily="34" charset="0"/>
                <a:ea typeface="Calibri" pitchFamily="34" charset="-122"/>
                <a:cs typeface="Calibri" pitchFamily="34" charset="-120"/>
              </a:rPr>
              <a:t>ADVANCED</a:t>
            </a:r>
            <a:endParaRPr lang="en-US" sz="900" dirty="0"/>
          </a:p>
        </p:txBody>
      </p:sp>
      <p:sp>
        <p:nvSpPr>
          <p:cNvPr id="22" name="Text 20"/>
          <p:cNvSpPr/>
          <p:nvPr/>
        </p:nvSpPr>
        <p:spPr>
          <a:xfrm>
            <a:off x="7406640" y="1874520"/>
            <a:ext cx="155448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Stacking</a:t>
            </a:r>
            <a:endParaRPr lang="en-US" sz="1400" dirty="0"/>
          </a:p>
          <a:p>
            <a:pPr marL="0" indent="0" algn="ctr">
              <a:buNone/>
            </a:pPr>
            <a:r>
              <a:rPr lang="en-US" sz="1400" b="1" dirty="0">
                <a:solidFill>
                  <a:srgbClr val="FFFFFF"/>
                </a:solidFill>
                <a:latin typeface="Georgia" pitchFamily="34" charset="0"/>
                <a:ea typeface="Georgia" pitchFamily="34" charset="-122"/>
                <a:cs typeface="Georgia" pitchFamily="34" charset="-120"/>
              </a:rPr>
              <a:t>Ensemble</a:t>
            </a:r>
            <a:endParaRPr lang="en-US" sz="1400" dirty="0"/>
          </a:p>
        </p:txBody>
      </p:sp>
      <p:sp>
        <p:nvSpPr>
          <p:cNvPr id="23" name="Text 21"/>
          <p:cNvSpPr/>
          <p:nvPr/>
        </p:nvSpPr>
        <p:spPr>
          <a:xfrm>
            <a:off x="7406640" y="2606040"/>
            <a:ext cx="1554480" cy="640080"/>
          </a:xfrm>
          <a:prstGeom prst="rect">
            <a:avLst/>
          </a:prstGeom>
          <a:noFill/>
          <a:ln/>
        </p:spPr>
        <p:txBody>
          <a:bodyPr wrap="square" rtlCol="0" anchor="ctr"/>
          <a:lstStyle/>
          <a:p>
            <a:pPr marL="0" indent="0" algn="ctr">
              <a:buNone/>
            </a:pPr>
            <a:r>
              <a:rPr lang="en-US" sz="1000" dirty="0">
                <a:solidFill>
                  <a:srgbClr val="E8F0EE"/>
                </a:solidFill>
                <a:latin typeface="Calibri" pitchFamily="34" charset="0"/>
                <a:ea typeface="Calibri" pitchFamily="34" charset="-122"/>
                <a:cs typeface="Calibri" pitchFamily="34" charset="-120"/>
              </a:rPr>
              <a:t>Multi-model</a:t>
            </a:r>
            <a:endParaRPr lang="en-US" sz="1000" dirty="0"/>
          </a:p>
          <a:p>
            <a:pPr marL="0" indent="0" algn="ctr">
              <a:buNone/>
            </a:pPr>
            <a:r>
              <a:rPr lang="en-US" sz="1000" dirty="0">
                <a:solidFill>
                  <a:srgbClr val="E8F0EE"/>
                </a:solidFill>
                <a:latin typeface="Calibri" pitchFamily="34" charset="0"/>
                <a:ea typeface="Calibri" pitchFamily="34" charset="-122"/>
                <a:cs typeface="Calibri" pitchFamily="34" charset="-120"/>
              </a:rPr>
              <a:t>combination</a:t>
            </a:r>
            <a:endParaRPr lang="en-US" sz="1000" dirty="0"/>
          </a:p>
        </p:txBody>
      </p:sp>
      <p:sp>
        <p:nvSpPr>
          <p:cNvPr id="24" name="Text 22"/>
          <p:cNvSpPr/>
          <p:nvPr/>
        </p:nvSpPr>
        <p:spPr>
          <a:xfrm>
            <a:off x="640080" y="3749040"/>
            <a:ext cx="4572000" cy="320040"/>
          </a:xfrm>
          <a:prstGeom prst="rect">
            <a:avLst/>
          </a:prstGeom>
          <a:noFill/>
          <a:ln/>
        </p:spPr>
        <p:txBody>
          <a:bodyPr wrap="square" lIns="0" tIns="0" rIns="0" bIns="0" rtlCol="0" anchor="ctr"/>
          <a:lstStyle/>
          <a:p>
            <a:pPr marL="0" indent="0">
              <a:buNone/>
            </a:pPr>
            <a:r>
              <a:rPr lang="en-US" sz="1400" b="1" dirty="0">
                <a:solidFill>
                  <a:srgbClr val="1A2F2F"/>
                </a:solidFill>
                <a:latin typeface="Georgia" pitchFamily="34" charset="0"/>
                <a:ea typeface="Georgia" pitchFamily="34" charset="-122"/>
                <a:cs typeface="Georgia" pitchFamily="34" charset="-120"/>
              </a:rPr>
              <a:t>Selection Criteria</a:t>
            </a:r>
            <a:endParaRPr lang="en-US" sz="1400" dirty="0"/>
          </a:p>
        </p:txBody>
      </p:sp>
      <p:pic>
        <p:nvPicPr>
          <p:cNvPr id="25" name="Image 0" descr="preencoded.png"/>
          <p:cNvPicPr>
            <a:picLocks noChangeAspect="1"/>
          </p:cNvPicPr>
          <p:nvPr/>
        </p:nvPicPr>
        <p:blipFill>
          <a:blip r:embed="rId3"/>
          <a:stretch>
            <a:fillRect/>
          </a:stretch>
        </p:blipFill>
        <p:spPr>
          <a:xfrm>
            <a:off x="640080" y="4178808"/>
            <a:ext cx="182880" cy="182880"/>
          </a:xfrm>
          <a:prstGeom prst="rect">
            <a:avLst/>
          </a:prstGeom>
        </p:spPr>
      </p:pic>
      <p:sp>
        <p:nvSpPr>
          <p:cNvPr id="26" name="Text 23"/>
          <p:cNvSpPr/>
          <p:nvPr/>
        </p:nvSpPr>
        <p:spPr>
          <a:xfrm>
            <a:off x="914400" y="4160520"/>
            <a:ext cx="2377440" cy="274320"/>
          </a:xfrm>
          <a:prstGeom prst="rect">
            <a:avLst/>
          </a:prstGeom>
          <a:noFill/>
          <a:ln/>
        </p:spPr>
        <p:txBody>
          <a:bodyPr wrap="square" lIns="0" tIns="0" rIns="0" bIns="0" rtlCol="0" anchor="ctr"/>
          <a:lstStyle/>
          <a:p>
            <a:pPr marL="0" indent="0">
              <a:buNone/>
            </a:pPr>
            <a:r>
              <a:rPr lang="en-US" sz="1100" dirty="0">
                <a:solidFill>
                  <a:srgbClr val="1A2F2F"/>
                </a:solidFill>
                <a:latin typeface="Calibri" pitchFamily="34" charset="0"/>
                <a:ea typeface="Calibri" pitchFamily="34" charset="-122"/>
                <a:cs typeface="Calibri" pitchFamily="34" charset="-120"/>
              </a:rPr>
              <a:t>ROC-AUC + PR-AUC</a:t>
            </a:r>
            <a:endParaRPr lang="en-US" sz="1100" dirty="0"/>
          </a:p>
        </p:txBody>
      </p:sp>
      <p:pic>
        <p:nvPicPr>
          <p:cNvPr id="27" name="Image 1" descr="preencoded.png"/>
          <p:cNvPicPr>
            <a:picLocks noChangeAspect="1"/>
          </p:cNvPicPr>
          <p:nvPr/>
        </p:nvPicPr>
        <p:blipFill>
          <a:blip r:embed="rId3"/>
          <a:stretch>
            <a:fillRect/>
          </a:stretch>
        </p:blipFill>
        <p:spPr>
          <a:xfrm>
            <a:off x="3474720" y="4178808"/>
            <a:ext cx="182880" cy="182880"/>
          </a:xfrm>
          <a:prstGeom prst="rect">
            <a:avLst/>
          </a:prstGeom>
        </p:spPr>
      </p:pic>
      <p:sp>
        <p:nvSpPr>
          <p:cNvPr id="28" name="Text 24"/>
          <p:cNvSpPr/>
          <p:nvPr/>
        </p:nvSpPr>
        <p:spPr>
          <a:xfrm>
            <a:off x="3749040" y="4160520"/>
            <a:ext cx="2377440" cy="274320"/>
          </a:xfrm>
          <a:prstGeom prst="rect">
            <a:avLst/>
          </a:prstGeom>
          <a:noFill/>
          <a:ln/>
        </p:spPr>
        <p:txBody>
          <a:bodyPr wrap="square" lIns="0" tIns="0" rIns="0" bIns="0" rtlCol="0" anchor="ctr"/>
          <a:lstStyle/>
          <a:p>
            <a:pPr marL="0" indent="0">
              <a:buNone/>
            </a:pPr>
            <a:r>
              <a:rPr lang="en-US" sz="1100" dirty="0">
                <a:solidFill>
                  <a:srgbClr val="1A2F2F"/>
                </a:solidFill>
                <a:latin typeface="Calibri" pitchFamily="34" charset="0"/>
                <a:ea typeface="Calibri" pitchFamily="34" charset="-122"/>
                <a:cs typeface="Calibri" pitchFamily="34" charset="-120"/>
              </a:rPr>
              <a:t>Top-K Recall/Precision</a:t>
            </a:r>
            <a:endParaRPr lang="en-US" sz="1100" dirty="0"/>
          </a:p>
        </p:txBody>
      </p:sp>
      <p:pic>
        <p:nvPicPr>
          <p:cNvPr id="29" name="Image 2" descr="preencoded.png"/>
          <p:cNvPicPr>
            <a:picLocks noChangeAspect="1"/>
          </p:cNvPicPr>
          <p:nvPr/>
        </p:nvPicPr>
        <p:blipFill>
          <a:blip r:embed="rId3"/>
          <a:stretch>
            <a:fillRect/>
          </a:stretch>
        </p:blipFill>
        <p:spPr>
          <a:xfrm>
            <a:off x="6309360" y="4178808"/>
            <a:ext cx="182880" cy="182880"/>
          </a:xfrm>
          <a:prstGeom prst="rect">
            <a:avLst/>
          </a:prstGeom>
        </p:spPr>
      </p:pic>
      <p:sp>
        <p:nvSpPr>
          <p:cNvPr id="30" name="Text 25"/>
          <p:cNvSpPr/>
          <p:nvPr/>
        </p:nvSpPr>
        <p:spPr>
          <a:xfrm>
            <a:off x="6583680" y="4160520"/>
            <a:ext cx="2377440" cy="274320"/>
          </a:xfrm>
          <a:prstGeom prst="rect">
            <a:avLst/>
          </a:prstGeom>
          <a:noFill/>
          <a:ln/>
        </p:spPr>
        <p:txBody>
          <a:bodyPr wrap="square" lIns="0" tIns="0" rIns="0" bIns="0" rtlCol="0" anchor="ctr"/>
          <a:lstStyle/>
          <a:p>
            <a:pPr marL="0" indent="0">
              <a:buNone/>
            </a:pPr>
            <a:r>
              <a:rPr lang="en-US" sz="1100" dirty="0">
                <a:solidFill>
                  <a:srgbClr val="1A2F2F"/>
                </a:solidFill>
                <a:latin typeface="Calibri" pitchFamily="34" charset="0"/>
                <a:ea typeface="Calibri" pitchFamily="34" charset="-122"/>
                <a:cs typeface="Calibri" pitchFamily="34" charset="-120"/>
              </a:rPr>
              <a:t>Calibration (Brier)</a:t>
            </a:r>
            <a:endParaRPr lang="en-US" sz="1100" dirty="0"/>
          </a:p>
        </p:txBody>
      </p:sp>
      <p:pic>
        <p:nvPicPr>
          <p:cNvPr id="31" name="Image 3" descr="preencoded.png"/>
          <p:cNvPicPr>
            <a:picLocks noChangeAspect="1"/>
          </p:cNvPicPr>
          <p:nvPr/>
        </p:nvPicPr>
        <p:blipFill>
          <a:blip r:embed="rId3"/>
          <a:stretch>
            <a:fillRect/>
          </a:stretch>
        </p:blipFill>
        <p:spPr>
          <a:xfrm>
            <a:off x="640080" y="4544568"/>
            <a:ext cx="182880" cy="182880"/>
          </a:xfrm>
          <a:prstGeom prst="rect">
            <a:avLst/>
          </a:prstGeom>
        </p:spPr>
      </p:pic>
      <p:sp>
        <p:nvSpPr>
          <p:cNvPr id="32" name="Text 26"/>
          <p:cNvSpPr/>
          <p:nvPr/>
        </p:nvSpPr>
        <p:spPr>
          <a:xfrm>
            <a:off x="914400" y="4526280"/>
            <a:ext cx="2377440" cy="274320"/>
          </a:xfrm>
          <a:prstGeom prst="rect">
            <a:avLst/>
          </a:prstGeom>
          <a:noFill/>
          <a:ln/>
        </p:spPr>
        <p:txBody>
          <a:bodyPr wrap="square" lIns="0" tIns="0" rIns="0" bIns="0" rtlCol="0" anchor="ctr"/>
          <a:lstStyle/>
          <a:p>
            <a:pPr marL="0" indent="0">
              <a:buNone/>
            </a:pPr>
            <a:r>
              <a:rPr lang="en-US" sz="1100" dirty="0">
                <a:solidFill>
                  <a:srgbClr val="1A2F2F"/>
                </a:solidFill>
                <a:latin typeface="Calibri" pitchFamily="34" charset="0"/>
                <a:ea typeface="Calibri" pitchFamily="34" charset="-122"/>
                <a:cs typeface="Calibri" pitchFamily="34" charset="-120"/>
              </a:rPr>
              <a:t>Fold Stability</a:t>
            </a:r>
            <a:endParaRPr lang="en-US" sz="1100" dirty="0"/>
          </a:p>
        </p:txBody>
      </p:sp>
      <p:pic>
        <p:nvPicPr>
          <p:cNvPr id="33" name="Image 4" descr="preencoded.png"/>
          <p:cNvPicPr>
            <a:picLocks noChangeAspect="1"/>
          </p:cNvPicPr>
          <p:nvPr/>
        </p:nvPicPr>
        <p:blipFill>
          <a:blip r:embed="rId3"/>
          <a:stretch>
            <a:fillRect/>
          </a:stretch>
        </p:blipFill>
        <p:spPr>
          <a:xfrm>
            <a:off x="3474720" y="4544568"/>
            <a:ext cx="182880" cy="182880"/>
          </a:xfrm>
          <a:prstGeom prst="rect">
            <a:avLst/>
          </a:prstGeom>
        </p:spPr>
      </p:pic>
      <p:sp>
        <p:nvSpPr>
          <p:cNvPr id="34" name="Text 27"/>
          <p:cNvSpPr/>
          <p:nvPr/>
        </p:nvSpPr>
        <p:spPr>
          <a:xfrm>
            <a:off x="3749040" y="4526280"/>
            <a:ext cx="2377440" cy="274320"/>
          </a:xfrm>
          <a:prstGeom prst="rect">
            <a:avLst/>
          </a:prstGeom>
          <a:noFill/>
          <a:ln/>
        </p:spPr>
        <p:txBody>
          <a:bodyPr wrap="square" lIns="0" tIns="0" rIns="0" bIns="0" rtlCol="0" anchor="ctr"/>
          <a:lstStyle/>
          <a:p>
            <a:pPr marL="0" indent="0">
              <a:buNone/>
            </a:pPr>
            <a:r>
              <a:rPr lang="en-US" sz="1100" dirty="0">
                <a:solidFill>
                  <a:srgbClr val="1A2F2F"/>
                </a:solidFill>
                <a:latin typeface="Calibri" pitchFamily="34" charset="0"/>
                <a:ea typeface="Calibri" pitchFamily="34" charset="-122"/>
                <a:cs typeface="Calibri" pitchFamily="34" charset="-120"/>
              </a:rPr>
              <a:t>SHAP Explanations</a:t>
            </a:r>
            <a:endParaRPr lang="en-US" sz="1100" dirty="0"/>
          </a:p>
        </p:txBody>
      </p:sp>
      <p:pic>
        <p:nvPicPr>
          <p:cNvPr id="35" name="Image 5" descr="preencoded.png"/>
          <p:cNvPicPr>
            <a:picLocks noChangeAspect="1"/>
          </p:cNvPicPr>
          <p:nvPr/>
        </p:nvPicPr>
        <p:blipFill>
          <a:blip r:embed="rId3"/>
          <a:stretch>
            <a:fillRect/>
          </a:stretch>
        </p:blipFill>
        <p:spPr>
          <a:xfrm>
            <a:off x="6309360" y="4544568"/>
            <a:ext cx="182880" cy="182880"/>
          </a:xfrm>
          <a:prstGeom prst="rect">
            <a:avLst/>
          </a:prstGeom>
        </p:spPr>
      </p:pic>
      <p:sp>
        <p:nvSpPr>
          <p:cNvPr id="36" name="Text 28"/>
          <p:cNvSpPr/>
          <p:nvPr/>
        </p:nvSpPr>
        <p:spPr>
          <a:xfrm>
            <a:off x="6583680" y="4526280"/>
            <a:ext cx="2377440" cy="274320"/>
          </a:xfrm>
          <a:prstGeom prst="rect">
            <a:avLst/>
          </a:prstGeom>
          <a:noFill/>
          <a:ln/>
        </p:spPr>
        <p:txBody>
          <a:bodyPr wrap="square" lIns="0" tIns="0" rIns="0" bIns="0" rtlCol="0" anchor="ctr"/>
          <a:lstStyle/>
          <a:p>
            <a:pPr marL="0" indent="0">
              <a:buNone/>
            </a:pPr>
            <a:r>
              <a:rPr lang="en-US" sz="1100" dirty="0">
                <a:solidFill>
                  <a:srgbClr val="1A2F2F"/>
                </a:solidFill>
                <a:latin typeface="Calibri" pitchFamily="34" charset="0"/>
                <a:ea typeface="Calibri" pitchFamily="34" charset="-122"/>
                <a:cs typeface="Calibri" pitchFamily="34" charset="-120"/>
              </a:rPr>
              <a:t>Maintainability</a:t>
            </a:r>
            <a:endParaRPr lang="en-US" sz="1100"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5-Fold Cross-Validation Results</a:t>
            </a:r>
            <a:endParaRPr lang="en-US" sz="3600" dirty="0"/>
          </a:p>
        </p:txBody>
      </p:sp>
      <p:sp>
        <p:nvSpPr>
          <p:cNvPr id="3" name="Text 1"/>
          <p:cNvSpPr/>
          <p:nvPr/>
        </p:nvSpPr>
        <p:spPr>
          <a:xfrm>
            <a:off x="640080" y="1295400"/>
            <a:ext cx="7315200" cy="365760"/>
          </a:xfrm>
          <a:prstGeom prst="rect">
            <a:avLst/>
          </a:prstGeom>
          <a:noFill/>
          <a:ln/>
        </p:spPr>
        <p:txBody>
          <a:bodyPr wrap="square" lIns="0" tIns="0" rIns="0" bIns="0" rtlCol="0" anchor="ctr"/>
          <a:lstStyle/>
          <a:p>
            <a:pPr marL="0" indent="0">
              <a:buNone/>
            </a:pPr>
            <a:r>
              <a:rPr lang="en-US" sz="1300" dirty="0">
                <a:solidFill>
                  <a:srgbClr val="5A7A7A"/>
                </a:solidFill>
                <a:latin typeface="Calibri" pitchFamily="34" charset="0"/>
                <a:ea typeface="Calibri" pitchFamily="34" charset="-122"/>
                <a:cs typeface="Calibri" pitchFamily="34" charset="-120"/>
              </a:rPr>
              <a:t>StratifiedGroupKFold — no patient leakage between folds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3371656465"/>
              </p:ext>
            </p:extLst>
          </p:nvPr>
        </p:nvGraphicFramePr>
        <p:xfrm>
          <a:off x="640080" y="1828800"/>
          <a:ext cx="7863840" cy="1310640"/>
        </p:xfrm>
        <a:graphic>
          <a:graphicData uri="http://schemas.openxmlformats.org/drawingml/2006/table">
            <a:tbl>
              <a:tblPr/>
              <a:tblGrid>
                <a:gridCol w="2476831">
                  <a:extLst>
                    <a:ext uri="{9D8B030D-6E8A-4147-A177-3AD203B41FA5}">
                      <a16:colId xmlns:a16="http://schemas.microsoft.com/office/drawing/2014/main" val="20000"/>
                    </a:ext>
                  </a:extLst>
                </a:gridCol>
                <a:gridCol w="1912289">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Brier</a:t>
                      </a:r>
                      <a:endParaRPr lang="en-US" sz="12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A2F2F"/>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0.2113 ± 0.015</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0.6614 ± 0.009</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0.2264 ± 0.002</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A2F2F"/>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0.2114 ± 0.016</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0.6631 ± 0.011</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0.2164 ± 0.002</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A2F2F"/>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0.2205 ± 0.013</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0.6583 ± 0.009</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0.1946 ± 0.002</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A2F2F"/>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0.2255 ± 0.013</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0.6643 ± 0.010</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100" dirty="0">
                          <a:solidFill>
                            <a:srgbClr val="5A7A7A"/>
                          </a:solidFill>
                          <a:latin typeface="Calibri" pitchFamily="34" charset="0"/>
                          <a:ea typeface="Calibri" pitchFamily="34" charset="-122"/>
                          <a:cs typeface="Calibri" pitchFamily="34" charset="-120"/>
                        </a:rPr>
                        <a:t>0.2036 ± 0.002</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640080" y="3474720"/>
            <a:ext cx="7863840"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22960" y="3611880"/>
            <a:ext cx="320040" cy="320040"/>
          </a:xfrm>
          <a:prstGeom prst="rect">
            <a:avLst/>
          </a:prstGeom>
        </p:spPr>
      </p:pic>
      <p:sp>
        <p:nvSpPr>
          <p:cNvPr id="7" name="Text 3"/>
          <p:cNvSpPr/>
          <p:nvPr/>
        </p:nvSpPr>
        <p:spPr>
          <a:xfrm>
            <a:off x="1280160" y="3474720"/>
            <a:ext cx="7040880" cy="640080"/>
          </a:xfrm>
          <a:prstGeom prst="rect">
            <a:avLst/>
          </a:prstGeom>
          <a:noFill/>
          <a:ln/>
        </p:spPr>
        <p:txBody>
          <a:bodyPr wrap="square" lIns="0" tIns="0" rIns="0" bIns="0" rtlCol="0" anchor="ctr"/>
          <a:lstStyle/>
          <a:p>
            <a:pPr marL="0" indent="0">
              <a:buNone/>
            </a:pPr>
            <a:r>
              <a:rPr lang="en-US" sz="1200" dirty="0">
                <a:solidFill>
                  <a:srgbClr val="1A2F2F"/>
                </a:solidFill>
                <a:latin typeface="Calibri" pitchFamily="34" charset="0"/>
                <a:ea typeface="Calibri" pitchFamily="34" charset="-122"/>
                <a:cs typeface="Calibri" pitchFamily="34" charset="-120"/>
              </a:rPr>
              <a:t>LightGBM leads on PR-AUC (0.2255) and ROC-AUC (0.6643) with stable folds. XGBoost has the best calibration (Brier: 0.1946).</a:t>
            </a:r>
            <a:endParaRPr lang="en-US" sz="12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Test Set Model Comparison</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7680960" cy="176784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PR-AUC</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Brier</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Recall@10%</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Lift@10%</a:t>
                      </a:r>
                      <a:endParaRPr lang="en-US" sz="11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A2F2F"/>
                          </a:solidFill>
                          <a:latin typeface="Calibri" pitchFamily="34" charset="0"/>
                          <a:ea typeface="Calibri" pitchFamily="34" charset="-122"/>
                          <a:cs typeface="Calibri" pitchFamily="34" charset="-120"/>
                        </a:rPr>
                        <a:t>Heuristic</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0.1817</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0.6122</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0.1041</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22.1%</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2.21x</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A2F2F"/>
                          </a:solidFill>
                          <a:latin typeface="Calibri" pitchFamily="34" charset="0"/>
                          <a:ea typeface="Calibri" pitchFamily="34" charset="-122"/>
                          <a:cs typeface="Calibri" pitchFamily="34" charset="-120"/>
                        </a:rPr>
                        <a:t>Logistic Reg.</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0.2243</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0.6710</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0.2250</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23.0%</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2.30x</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A2F2F"/>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0.2240</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0.6707</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0.2158</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2.27x</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A2F2F"/>
                          </a:solidFill>
                          <a:latin typeface="Calibri" pitchFamily="34" charset="0"/>
                          <a:ea typeface="Calibri" pitchFamily="34" charset="-122"/>
                          <a:cs typeface="Calibri" pitchFamily="34" charset="-120"/>
                        </a:rPr>
                        <a:t>XGBoost</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0.2323</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0.6686</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0.1963</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25.4%</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2.54x</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0D2B2B"/>
                          </a:solidFill>
                          <a:latin typeface="Calibri" pitchFamily="34" charset="0"/>
                          <a:ea typeface="Calibri" pitchFamily="34" charset="-122"/>
                          <a:cs typeface="Calibri" pitchFamily="34" charset="-120"/>
                        </a:rPr>
                        <a:t>LightGBM ★</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4F5EE"/>
                    </a:solidFill>
                  </a:tcPr>
                </a:tc>
                <a:tc>
                  <a:txBody>
                    <a:bodyPr/>
                    <a:lstStyle/>
                    <a:p>
                      <a:pPr marL="0" indent="0">
                        <a:buNone/>
                      </a:pPr>
                      <a:r>
                        <a:rPr lang="en-US" sz="1050" b="1" dirty="0">
                          <a:solidFill>
                            <a:srgbClr val="0D2B2B"/>
                          </a:solidFill>
                          <a:latin typeface="Calibri" pitchFamily="34" charset="0"/>
                          <a:ea typeface="Calibri" pitchFamily="34" charset="-122"/>
                          <a:cs typeface="Calibri" pitchFamily="34" charset="-120"/>
                        </a:rPr>
                        <a:t>0.2373</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4F5EE"/>
                    </a:solidFill>
                  </a:tcPr>
                </a:tc>
                <a:tc>
                  <a:txBody>
                    <a:bodyPr/>
                    <a:lstStyle/>
                    <a:p>
                      <a:pPr marL="0" indent="0">
                        <a:buNone/>
                      </a:pPr>
                      <a:r>
                        <a:rPr lang="en-US" sz="1050" b="1" dirty="0">
                          <a:solidFill>
                            <a:srgbClr val="0D2B2B"/>
                          </a:solidFill>
                          <a:latin typeface="Calibri" pitchFamily="34" charset="0"/>
                          <a:ea typeface="Calibri" pitchFamily="34" charset="-122"/>
                          <a:cs typeface="Calibri" pitchFamily="34" charset="-120"/>
                        </a:rPr>
                        <a:t>0.6731</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4F5EE"/>
                    </a:solidFill>
                  </a:tcPr>
                </a:tc>
                <a:tc>
                  <a:txBody>
                    <a:bodyPr/>
                    <a:lstStyle/>
                    <a:p>
                      <a:pPr marL="0" indent="0">
                        <a:buNone/>
                      </a:pPr>
                      <a:r>
                        <a:rPr lang="en-US" sz="1050" b="1" dirty="0">
                          <a:solidFill>
                            <a:srgbClr val="0D2B2B"/>
                          </a:solidFill>
                          <a:latin typeface="Calibri" pitchFamily="34" charset="0"/>
                          <a:ea typeface="Calibri" pitchFamily="34" charset="-122"/>
                          <a:cs typeface="Calibri" pitchFamily="34" charset="-120"/>
                        </a:rPr>
                        <a:t>0.2043</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4F5EE"/>
                    </a:solidFill>
                  </a:tcPr>
                </a:tc>
                <a:tc>
                  <a:txBody>
                    <a:bodyPr/>
                    <a:lstStyle/>
                    <a:p>
                      <a:pPr marL="0" indent="0">
                        <a:buNone/>
                      </a:pPr>
                      <a:r>
                        <a:rPr lang="en-US" sz="1050" b="1" dirty="0">
                          <a:solidFill>
                            <a:srgbClr val="0D2B2B"/>
                          </a:solidFill>
                          <a:latin typeface="Calibri" pitchFamily="34" charset="0"/>
                          <a:ea typeface="Calibri" pitchFamily="34" charset="-122"/>
                          <a:cs typeface="Calibri" pitchFamily="34" charset="-120"/>
                        </a:rPr>
                        <a:t>26.0%</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4F5EE"/>
                    </a:solidFill>
                  </a:tcPr>
                </a:tc>
                <a:tc>
                  <a:txBody>
                    <a:bodyPr/>
                    <a:lstStyle/>
                    <a:p>
                      <a:pPr marL="0" indent="0">
                        <a:buNone/>
                      </a:pPr>
                      <a:r>
                        <a:rPr lang="en-US" sz="1050" b="1" dirty="0">
                          <a:solidFill>
                            <a:srgbClr val="0D2B2B"/>
                          </a:solidFill>
                          <a:latin typeface="Calibri" pitchFamily="34" charset="0"/>
                          <a:ea typeface="Calibri" pitchFamily="34" charset="-122"/>
                          <a:cs typeface="Calibri" pitchFamily="34" charset="-120"/>
                        </a:rPr>
                        <a:t>2.60x</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4F5EE"/>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A2F2F"/>
                          </a:solidFill>
                          <a:latin typeface="Calibri" pitchFamily="34" charset="0"/>
                          <a:ea typeface="Calibri" pitchFamily="34" charset="-122"/>
                          <a:cs typeface="Calibri" pitchFamily="34" charset="-120"/>
                        </a:rPr>
                        <a:t>Stacking</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0.2358</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0.6802</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0.0955</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24.5%</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50" dirty="0">
                          <a:solidFill>
                            <a:srgbClr val="5A7A7A"/>
                          </a:solidFill>
                          <a:latin typeface="Calibri" pitchFamily="34" charset="0"/>
                          <a:ea typeface="Calibri" pitchFamily="34" charset="-122"/>
                          <a:cs typeface="Calibri" pitchFamily="34" charset="-120"/>
                        </a:rPr>
                        <a:t>2.45x</a:t>
                      </a:r>
                      <a:endParaRPr lang="en-US" sz="10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4" name="Image 0" descr="preencoded.png"/>
          <p:cNvPicPr>
            <a:picLocks noChangeAspect="1"/>
          </p:cNvPicPr>
          <p:nvPr/>
        </p:nvPicPr>
        <p:blipFill>
          <a:blip r:embed="rId3"/>
          <a:stretch>
            <a:fillRect/>
          </a:stretch>
        </p:blipFill>
        <p:spPr>
          <a:xfrm>
            <a:off x="457200" y="3108960"/>
            <a:ext cx="8229600" cy="1920240"/>
          </a:xfrm>
          <a:prstGeom prst="rect">
            <a:avLst/>
          </a:prstGeom>
        </p:spPr>
      </p:pic>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ROC &amp; Precision-Recall Curves</a:t>
            </a:r>
            <a:endParaRPr lang="en-US" sz="3600" dirty="0"/>
          </a:p>
        </p:txBody>
      </p:sp>
      <p:pic>
        <p:nvPicPr>
          <p:cNvPr id="3" name="Image 0" descr="preencoded.png"/>
          <p:cNvPicPr>
            <a:picLocks noChangeAspect="1"/>
          </p:cNvPicPr>
          <p:nvPr/>
        </p:nvPicPr>
        <p:blipFill>
          <a:blip r:embed="rId3"/>
          <a:stretch>
            <a:fillRect/>
          </a:stretch>
        </p:blipFill>
        <p:spPr>
          <a:xfrm>
            <a:off x="274320" y="1005840"/>
            <a:ext cx="8595360" cy="3200400"/>
          </a:xfrm>
          <a:prstGeom prst="rect">
            <a:avLst/>
          </a:prstGeom>
        </p:spPr>
      </p:pic>
      <p:sp>
        <p:nvSpPr>
          <p:cNvPr id="4" name="Shape 1"/>
          <p:cNvSpPr/>
          <p:nvPr/>
        </p:nvSpPr>
        <p:spPr>
          <a:xfrm>
            <a:off x="640080" y="4343400"/>
            <a:ext cx="786384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Text 2"/>
          <p:cNvSpPr/>
          <p:nvPr/>
        </p:nvSpPr>
        <p:spPr>
          <a:xfrm>
            <a:off x="822960" y="4343400"/>
            <a:ext cx="7498080" cy="594360"/>
          </a:xfrm>
          <a:prstGeom prst="rect">
            <a:avLst/>
          </a:prstGeom>
          <a:noFill/>
          <a:ln/>
        </p:spPr>
        <p:txBody>
          <a:bodyPr wrap="square" lIns="0" tIns="0" rIns="0" bIns="0" rtlCol="0" anchor="ctr"/>
          <a:lstStyle/>
          <a:p>
            <a:pPr marL="0" indent="0">
              <a:buNone/>
            </a:pPr>
            <a:r>
              <a:rPr lang="en-US" sz="1100" dirty="0">
                <a:solidFill>
                  <a:srgbClr val="1A2F2F"/>
                </a:solidFill>
                <a:latin typeface="Calibri" pitchFamily="34" charset="0"/>
                <a:ea typeface="Calibri" pitchFamily="34" charset="-122"/>
                <a:cs typeface="Calibri" pitchFamily="34" charset="-120"/>
              </a:rPr>
              <a:t>LightGBM achieves the best PR-AUC (0.2373), which is critical under 11% class imbalance. ROC-AUC of 0.6731 confirms meaningful discrimination above baseline.</a:t>
            </a:r>
            <a:endParaRPr lang="en-US" sz="1100" dirty="0"/>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Probability Calibration</a:t>
            </a:r>
            <a:endParaRPr lang="en-US" sz="3600" dirty="0"/>
          </a:p>
        </p:txBody>
      </p:sp>
      <p:pic>
        <p:nvPicPr>
          <p:cNvPr id="3" name="Image 0" descr="preencoded.png"/>
          <p:cNvPicPr>
            <a:picLocks noChangeAspect="1"/>
          </p:cNvPicPr>
          <p:nvPr/>
        </p:nvPicPr>
        <p:blipFill>
          <a:blip r:embed="rId3"/>
          <a:stretch>
            <a:fillRect/>
          </a:stretch>
        </p:blipFill>
        <p:spPr>
          <a:xfrm>
            <a:off x="274320" y="1005840"/>
            <a:ext cx="8595360" cy="2926080"/>
          </a:xfrm>
          <a:prstGeom prst="rect">
            <a:avLst/>
          </a:prstGeom>
        </p:spPr>
      </p:pic>
      <p:sp>
        <p:nvSpPr>
          <p:cNvPr id="4" name="Shape 1"/>
          <p:cNvSpPr/>
          <p:nvPr/>
        </p:nvSpPr>
        <p:spPr>
          <a:xfrm>
            <a:off x="640080" y="4114800"/>
            <a:ext cx="3200400" cy="731520"/>
          </a:xfrm>
          <a:prstGeom prst="rect">
            <a:avLst/>
          </a:prstGeom>
          <a:solidFill>
            <a:srgbClr val="FFF5F5"/>
          </a:solidFill>
          <a:ln/>
          <a:effectLst>
            <a:outerShdw blurRad="76200" dist="25400" dir="8100000" algn="bl" rotWithShape="0">
              <a:srgbClr val="000000">
                <a:alpha val="12000"/>
              </a:srgbClr>
            </a:outerShdw>
          </a:effectLst>
        </p:spPr>
        <p:txBody>
          <a:bodyPr/>
          <a:lstStyle/>
          <a:p>
            <a:endParaRPr lang="en-US"/>
          </a:p>
        </p:txBody>
      </p:sp>
      <p:sp>
        <p:nvSpPr>
          <p:cNvPr id="5" name="Text 2"/>
          <p:cNvSpPr/>
          <p:nvPr/>
        </p:nvSpPr>
        <p:spPr>
          <a:xfrm>
            <a:off x="822960" y="4160520"/>
            <a:ext cx="1371600" cy="274320"/>
          </a:xfrm>
          <a:prstGeom prst="rect">
            <a:avLst/>
          </a:prstGeom>
          <a:noFill/>
          <a:ln/>
        </p:spPr>
        <p:txBody>
          <a:bodyPr wrap="square" lIns="0" tIns="0" rIns="0" bIns="0" rtlCol="0" anchor="ctr"/>
          <a:lstStyle/>
          <a:p>
            <a:pPr marL="0" indent="0">
              <a:buNone/>
            </a:pPr>
            <a:r>
              <a:rPr lang="en-US" sz="1100" b="1" dirty="0">
                <a:solidFill>
                  <a:srgbClr val="FF6B6B"/>
                </a:solidFill>
                <a:latin typeface="Calibri" pitchFamily="34" charset="0"/>
                <a:ea typeface="Calibri" pitchFamily="34" charset="-122"/>
                <a:cs typeface="Calibri" pitchFamily="34" charset="-120"/>
              </a:rPr>
              <a:t>Before</a:t>
            </a:r>
            <a:endParaRPr lang="en-US" sz="1100" dirty="0"/>
          </a:p>
        </p:txBody>
      </p:sp>
      <p:sp>
        <p:nvSpPr>
          <p:cNvPr id="6" name="Text 3"/>
          <p:cNvSpPr/>
          <p:nvPr/>
        </p:nvSpPr>
        <p:spPr>
          <a:xfrm>
            <a:off x="822960" y="4434840"/>
            <a:ext cx="2743200" cy="274320"/>
          </a:xfrm>
          <a:prstGeom prst="rect">
            <a:avLst/>
          </a:prstGeom>
          <a:noFill/>
          <a:ln/>
        </p:spPr>
        <p:txBody>
          <a:bodyPr wrap="square" lIns="0" tIns="0" rIns="0" bIns="0" rtlCol="0" anchor="ctr"/>
          <a:lstStyle/>
          <a:p>
            <a:pPr marL="0" indent="0">
              <a:buNone/>
            </a:pPr>
            <a:r>
              <a:rPr lang="en-US" sz="1300" dirty="0">
                <a:solidFill>
                  <a:srgbClr val="1A2F2F"/>
                </a:solidFill>
                <a:latin typeface="Calibri" pitchFamily="34" charset="0"/>
                <a:ea typeface="Calibri" pitchFamily="34" charset="-122"/>
                <a:cs typeface="Calibri" pitchFamily="34" charset="-120"/>
              </a:rPr>
              <a:t>Brier Score: 0.2128</a:t>
            </a:r>
            <a:endParaRPr lang="en-US" sz="1300" dirty="0"/>
          </a:p>
        </p:txBody>
      </p:sp>
      <p:sp>
        <p:nvSpPr>
          <p:cNvPr id="7" name="Text 4"/>
          <p:cNvSpPr/>
          <p:nvPr/>
        </p:nvSpPr>
        <p:spPr>
          <a:xfrm>
            <a:off x="4023360" y="4206240"/>
            <a:ext cx="365760" cy="457200"/>
          </a:xfrm>
          <a:prstGeom prst="rect">
            <a:avLst/>
          </a:prstGeom>
          <a:noFill/>
          <a:ln/>
        </p:spPr>
        <p:txBody>
          <a:bodyPr wrap="square" rtlCol="0" anchor="ctr"/>
          <a:lstStyle/>
          <a:p>
            <a:pPr marL="0" indent="0" algn="ctr">
              <a:buNone/>
            </a:pPr>
            <a:r>
              <a:rPr lang="en-US" sz="2400" dirty="0">
                <a:solidFill>
                  <a:srgbClr val="00B4A6"/>
                </a:solidFill>
                <a:latin typeface="Calibri" pitchFamily="34" charset="0"/>
                <a:ea typeface="Calibri" pitchFamily="34" charset="-122"/>
                <a:cs typeface="Calibri" pitchFamily="34" charset="-120"/>
              </a:rPr>
              <a:t>→</a:t>
            </a:r>
            <a:endParaRPr lang="en-US" sz="2400" dirty="0"/>
          </a:p>
        </p:txBody>
      </p:sp>
      <p:sp>
        <p:nvSpPr>
          <p:cNvPr id="8" name="Shape 5"/>
          <p:cNvSpPr/>
          <p:nvPr/>
        </p:nvSpPr>
        <p:spPr>
          <a:xfrm>
            <a:off x="4572000" y="4114800"/>
            <a:ext cx="3200400" cy="731520"/>
          </a:xfrm>
          <a:prstGeom prst="rect">
            <a:avLst/>
          </a:prstGeom>
          <a:solidFill>
            <a:srgbClr val="F0FFF5"/>
          </a:solidFill>
          <a:ln/>
          <a:effectLst>
            <a:outerShdw blurRad="76200" dist="25400" dir="8100000" algn="bl" rotWithShape="0">
              <a:srgbClr val="000000">
                <a:alpha val="12000"/>
              </a:srgbClr>
            </a:outerShdw>
          </a:effectLst>
        </p:spPr>
        <p:txBody>
          <a:bodyPr/>
          <a:lstStyle/>
          <a:p>
            <a:endParaRPr lang="en-US"/>
          </a:p>
        </p:txBody>
      </p:sp>
      <p:sp>
        <p:nvSpPr>
          <p:cNvPr id="9" name="Text 6"/>
          <p:cNvSpPr/>
          <p:nvPr/>
        </p:nvSpPr>
        <p:spPr>
          <a:xfrm>
            <a:off x="4754880" y="4160520"/>
            <a:ext cx="1828800" cy="274320"/>
          </a:xfrm>
          <a:prstGeom prst="rect">
            <a:avLst/>
          </a:prstGeom>
          <a:noFill/>
          <a:ln/>
        </p:spPr>
        <p:txBody>
          <a:bodyPr wrap="square" lIns="0" tIns="0" rIns="0" bIns="0" rtlCol="0" anchor="ctr"/>
          <a:lstStyle/>
          <a:p>
            <a:pPr marL="0" indent="0">
              <a:buNone/>
            </a:pPr>
            <a:r>
              <a:rPr lang="en-US" sz="1100" b="1" dirty="0">
                <a:solidFill>
                  <a:srgbClr val="0D8050"/>
                </a:solidFill>
                <a:latin typeface="Calibri" pitchFamily="34" charset="0"/>
                <a:ea typeface="Calibri" pitchFamily="34" charset="-122"/>
                <a:cs typeface="Calibri" pitchFamily="34" charset="-120"/>
              </a:rPr>
              <a:t>After (Isotonic)</a:t>
            </a:r>
            <a:endParaRPr lang="en-US" sz="1100" dirty="0"/>
          </a:p>
        </p:txBody>
      </p:sp>
      <p:sp>
        <p:nvSpPr>
          <p:cNvPr id="10" name="Text 7"/>
          <p:cNvSpPr/>
          <p:nvPr/>
        </p:nvSpPr>
        <p:spPr>
          <a:xfrm>
            <a:off x="4754880" y="4434840"/>
            <a:ext cx="2743200" cy="274320"/>
          </a:xfrm>
          <a:prstGeom prst="rect">
            <a:avLst/>
          </a:prstGeom>
          <a:noFill/>
          <a:ln/>
        </p:spPr>
        <p:txBody>
          <a:bodyPr wrap="square" lIns="0" tIns="0" rIns="0" bIns="0" rtlCol="0" anchor="ctr"/>
          <a:lstStyle/>
          <a:p>
            <a:pPr marL="0" indent="0">
              <a:buNone/>
            </a:pPr>
            <a:r>
              <a:rPr lang="en-US" sz="1300" b="1" dirty="0">
                <a:solidFill>
                  <a:srgbClr val="1A2F2F"/>
                </a:solidFill>
                <a:latin typeface="Calibri" pitchFamily="34" charset="0"/>
                <a:ea typeface="Calibri" pitchFamily="34" charset="-122"/>
                <a:cs typeface="Calibri" pitchFamily="34" charset="-120"/>
              </a:rPr>
              <a:t>Brier Score: 0.0915</a:t>
            </a:r>
            <a:endParaRPr lang="en-US" sz="1300" dirty="0"/>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548640"/>
          </a:xfrm>
          <a:prstGeom prst="rect">
            <a:avLst/>
          </a:prstGeom>
          <a:noFill/>
          <a:ln/>
        </p:spPr>
        <p:txBody>
          <a:bodyPr wrap="square" lIns="0" tIns="0" rIns="0" bIns="0" rtlCol="0" anchor="ctr"/>
          <a:lstStyle/>
          <a:p>
            <a:pPr marL="0" indent="0">
              <a:buNone/>
            </a:pPr>
            <a:r>
              <a:rPr lang="en-US" sz="3200" b="1" dirty="0">
                <a:solidFill>
                  <a:srgbClr val="1A2F2F"/>
                </a:solidFill>
                <a:latin typeface="Georgia" pitchFamily="34" charset="0"/>
                <a:ea typeface="Georgia" pitchFamily="34" charset="-122"/>
                <a:cs typeface="Georgia" pitchFamily="34" charset="-120"/>
              </a:rPr>
              <a:t>Explainability — SHAP Analysis</a:t>
            </a:r>
            <a:endParaRPr lang="en-US" sz="3200" dirty="0"/>
          </a:p>
        </p:txBody>
      </p:sp>
      <p:pic>
        <p:nvPicPr>
          <p:cNvPr id="3" name="Image 0" descr="preencoded.png"/>
          <p:cNvPicPr>
            <a:picLocks noChangeAspect="1"/>
          </p:cNvPicPr>
          <p:nvPr/>
        </p:nvPicPr>
        <p:blipFill>
          <a:blip r:embed="rId3"/>
          <a:stretch>
            <a:fillRect/>
          </a:stretch>
        </p:blipFill>
        <p:spPr>
          <a:xfrm>
            <a:off x="182880" y="960120"/>
            <a:ext cx="4389120" cy="3657600"/>
          </a:xfrm>
          <a:prstGeom prst="rect">
            <a:avLst/>
          </a:prstGeom>
        </p:spPr>
      </p:pic>
      <p:pic>
        <p:nvPicPr>
          <p:cNvPr id="4" name="Image 1" descr="preencoded.png"/>
          <p:cNvPicPr>
            <a:picLocks noChangeAspect="1"/>
          </p:cNvPicPr>
          <p:nvPr/>
        </p:nvPicPr>
        <p:blipFill>
          <a:blip r:embed="rId4"/>
          <a:stretch>
            <a:fillRect/>
          </a:stretch>
        </p:blipFill>
        <p:spPr>
          <a:xfrm>
            <a:off x="4572000" y="960120"/>
            <a:ext cx="4389120" cy="3657600"/>
          </a:xfrm>
          <a:prstGeom prst="rect">
            <a:avLst/>
          </a:prstGeom>
        </p:spPr>
      </p:pic>
      <p:sp>
        <p:nvSpPr>
          <p:cNvPr id="5" name="Text 1"/>
          <p:cNvSpPr/>
          <p:nvPr/>
        </p:nvSpPr>
        <p:spPr>
          <a:xfrm>
            <a:off x="640080" y="4754880"/>
            <a:ext cx="7315200" cy="274320"/>
          </a:xfrm>
          <a:prstGeom prst="rect">
            <a:avLst/>
          </a:prstGeom>
          <a:noFill/>
          <a:ln/>
        </p:spPr>
        <p:txBody>
          <a:bodyPr wrap="square" lIns="0" tIns="0" rIns="0" bIns="0" rtlCol="0" anchor="ctr"/>
          <a:lstStyle/>
          <a:p>
            <a:pPr marL="0" indent="0">
              <a:buNone/>
            </a:pPr>
            <a:r>
              <a:rPr lang="en-US" sz="1000" dirty="0">
                <a:solidFill>
                  <a:srgbClr val="5A7A7A"/>
                </a:solidFill>
                <a:latin typeface="Calibri" pitchFamily="34" charset="0"/>
                <a:ea typeface="Calibri" pitchFamily="34" charset="-122"/>
                <a:cs typeface="Calibri" pitchFamily="34" charset="-120"/>
              </a:rPr>
              <a:t>Global feature importance (left: beeswarm, right: mean |SHAP|)</a:t>
            </a:r>
            <a:endParaRPr lang="en-US" sz="1000" dirty="0"/>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Per-Patient Explanations</a:t>
            </a:r>
            <a:endParaRPr lang="en-US" sz="3600" dirty="0"/>
          </a:p>
        </p:txBody>
      </p:sp>
      <p:sp>
        <p:nvSpPr>
          <p:cNvPr id="3" name="Text 1"/>
          <p:cNvSpPr/>
          <p:nvPr/>
        </p:nvSpPr>
        <p:spPr>
          <a:xfrm>
            <a:off x="274320" y="914400"/>
            <a:ext cx="2834640" cy="274320"/>
          </a:xfrm>
          <a:prstGeom prst="rect">
            <a:avLst/>
          </a:prstGeom>
          <a:noFill/>
          <a:ln/>
        </p:spPr>
        <p:txBody>
          <a:bodyPr wrap="square" lIns="0" tIns="0" rIns="0" bIns="0" rtlCol="0" anchor="ctr"/>
          <a:lstStyle/>
          <a:p>
            <a:pPr marL="0" indent="0" algn="ctr">
              <a:buNone/>
            </a:pPr>
            <a:r>
              <a:rPr lang="en-US" sz="1200" b="1" dirty="0">
                <a:solidFill>
                  <a:srgbClr val="FF6B6B"/>
                </a:solidFill>
                <a:latin typeface="Calibri" pitchFamily="34" charset="0"/>
                <a:ea typeface="Calibri" pitchFamily="34" charset="-122"/>
                <a:cs typeface="Calibri" pitchFamily="34" charset="-120"/>
              </a:rPr>
              <a:t>High Risk</a:t>
            </a:r>
            <a:endParaRPr lang="en-US" sz="1200" dirty="0"/>
          </a:p>
        </p:txBody>
      </p:sp>
      <p:pic>
        <p:nvPicPr>
          <p:cNvPr id="4" name="Image 0" descr="preencoded.png"/>
          <p:cNvPicPr>
            <a:picLocks noChangeAspect="1"/>
          </p:cNvPicPr>
          <p:nvPr/>
        </p:nvPicPr>
        <p:blipFill>
          <a:blip r:embed="rId3"/>
          <a:stretch>
            <a:fillRect/>
          </a:stretch>
        </p:blipFill>
        <p:spPr>
          <a:xfrm>
            <a:off x="182880" y="1188720"/>
            <a:ext cx="2926080" cy="3474720"/>
          </a:xfrm>
          <a:prstGeom prst="rect">
            <a:avLst/>
          </a:prstGeom>
        </p:spPr>
      </p:pic>
      <p:sp>
        <p:nvSpPr>
          <p:cNvPr id="5" name="Text 2"/>
          <p:cNvSpPr/>
          <p:nvPr/>
        </p:nvSpPr>
        <p:spPr>
          <a:xfrm>
            <a:off x="3200400" y="914400"/>
            <a:ext cx="2834640" cy="274320"/>
          </a:xfrm>
          <a:prstGeom prst="rect">
            <a:avLst/>
          </a:prstGeom>
          <a:noFill/>
          <a:ln/>
        </p:spPr>
        <p:txBody>
          <a:bodyPr wrap="square" lIns="0" tIns="0" rIns="0" bIns="0" rtlCol="0" anchor="ctr"/>
          <a:lstStyle/>
          <a:p>
            <a:pPr marL="0" indent="0" algn="ctr">
              <a:buNone/>
            </a:pPr>
            <a:r>
              <a:rPr lang="en-US" sz="1200" b="1" dirty="0">
                <a:solidFill>
                  <a:srgbClr val="FFB347"/>
                </a:solidFill>
                <a:latin typeface="Calibri" pitchFamily="34" charset="0"/>
                <a:ea typeface="Calibri" pitchFamily="34" charset="-122"/>
                <a:cs typeface="Calibri" pitchFamily="34" charset="-120"/>
              </a:rPr>
              <a:t>Medium Risk</a:t>
            </a:r>
            <a:endParaRPr lang="en-US" sz="1200" dirty="0"/>
          </a:p>
        </p:txBody>
      </p:sp>
      <p:pic>
        <p:nvPicPr>
          <p:cNvPr id="6" name="Image 1" descr="preencoded.png"/>
          <p:cNvPicPr>
            <a:picLocks noChangeAspect="1"/>
          </p:cNvPicPr>
          <p:nvPr/>
        </p:nvPicPr>
        <p:blipFill>
          <a:blip r:embed="rId4"/>
          <a:stretch>
            <a:fillRect/>
          </a:stretch>
        </p:blipFill>
        <p:spPr>
          <a:xfrm>
            <a:off x="3108960" y="1188720"/>
            <a:ext cx="2926080" cy="3474720"/>
          </a:xfrm>
          <a:prstGeom prst="rect">
            <a:avLst/>
          </a:prstGeom>
        </p:spPr>
      </p:pic>
      <p:sp>
        <p:nvSpPr>
          <p:cNvPr id="7" name="Text 3"/>
          <p:cNvSpPr/>
          <p:nvPr/>
        </p:nvSpPr>
        <p:spPr>
          <a:xfrm>
            <a:off x="6126480" y="914400"/>
            <a:ext cx="2834640" cy="274320"/>
          </a:xfrm>
          <a:prstGeom prst="rect">
            <a:avLst/>
          </a:prstGeom>
          <a:noFill/>
          <a:ln/>
        </p:spPr>
        <p:txBody>
          <a:bodyPr wrap="square" lIns="0" tIns="0" rIns="0" bIns="0" rtlCol="0" anchor="ctr"/>
          <a:lstStyle/>
          <a:p>
            <a:pPr marL="0" indent="0" algn="ctr">
              <a:buNone/>
            </a:pPr>
            <a:r>
              <a:rPr lang="en-US" sz="1200" b="1" dirty="0">
                <a:solidFill>
                  <a:srgbClr val="00B4A6"/>
                </a:solidFill>
                <a:latin typeface="Calibri" pitchFamily="34" charset="0"/>
                <a:ea typeface="Calibri" pitchFamily="34" charset="-122"/>
                <a:cs typeface="Calibri" pitchFamily="34" charset="-120"/>
              </a:rPr>
              <a:t>Low Risk</a:t>
            </a:r>
            <a:endParaRPr lang="en-US" sz="1200" dirty="0"/>
          </a:p>
        </p:txBody>
      </p:sp>
      <p:pic>
        <p:nvPicPr>
          <p:cNvPr id="8" name="Image 2" descr="preencoded.png"/>
          <p:cNvPicPr>
            <a:picLocks noChangeAspect="1"/>
          </p:cNvPicPr>
          <p:nvPr/>
        </p:nvPicPr>
        <p:blipFill>
          <a:blip r:embed="rId5"/>
          <a:stretch>
            <a:fillRect/>
          </a:stretch>
        </p:blipFill>
        <p:spPr>
          <a:xfrm>
            <a:off x="6035040" y="1188720"/>
            <a:ext cx="2926080" cy="3474720"/>
          </a:xfrm>
          <a:prstGeom prst="rect">
            <a:avLst/>
          </a:prstGeom>
        </p:spPr>
      </p:pic>
      <p:sp>
        <p:nvSpPr>
          <p:cNvPr id="9" name="Text 4"/>
          <p:cNvSpPr/>
          <p:nvPr/>
        </p:nvSpPr>
        <p:spPr>
          <a:xfrm>
            <a:off x="640080" y="4754880"/>
            <a:ext cx="7315200" cy="274320"/>
          </a:xfrm>
          <a:prstGeom prst="rect">
            <a:avLst/>
          </a:prstGeom>
          <a:noFill/>
          <a:ln/>
        </p:spPr>
        <p:txBody>
          <a:bodyPr wrap="square" lIns="0" tIns="0" rIns="0" bIns="0" rtlCol="0" anchor="ctr"/>
          <a:lstStyle/>
          <a:p>
            <a:pPr marL="0" indent="0">
              <a:buNone/>
            </a:pPr>
            <a:r>
              <a:rPr lang="en-US" sz="1000" dirty="0">
                <a:solidFill>
                  <a:srgbClr val="5A7A7A"/>
                </a:solidFill>
                <a:latin typeface="Calibri" pitchFamily="34" charset="0"/>
                <a:ea typeface="Calibri" pitchFamily="34" charset="-122"/>
                <a:cs typeface="Calibri" pitchFamily="34" charset="-120"/>
              </a:rPr>
              <a:t>SHAP waterfall plots show per-patient feature contributions — enabling clinicians to understand why a patient was flagged.</a:t>
            </a:r>
            <a:endParaRPr lang="en-US" sz="1000" dirty="0"/>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Fairness Audit</a:t>
            </a:r>
            <a:endParaRPr lang="en-US" sz="3600" dirty="0"/>
          </a:p>
        </p:txBody>
      </p:sp>
      <p:pic>
        <p:nvPicPr>
          <p:cNvPr id="3" name="Image 0" descr="preencoded.png"/>
          <p:cNvPicPr>
            <a:picLocks noChangeAspect="1"/>
          </p:cNvPicPr>
          <p:nvPr/>
        </p:nvPicPr>
        <p:blipFill>
          <a:blip r:embed="rId3"/>
          <a:stretch>
            <a:fillRect/>
          </a:stretch>
        </p:blipFill>
        <p:spPr>
          <a:xfrm>
            <a:off x="274320" y="914400"/>
            <a:ext cx="5029200" cy="274320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303520" y="914400"/>
          <a:ext cx="3383280" cy="1463040"/>
        </p:xfrm>
        <a:graphic>
          <a:graphicData uri="http://schemas.openxmlformats.org/drawingml/2006/table">
            <a:tbl>
              <a:tblPr/>
              <a:tblGrid>
                <a:gridCol w="10058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Race Group</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Base Rate</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2B2B"/>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Caucasian</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18,510</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11.5%</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0.671</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Hispanic</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398</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0.755</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Other</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302</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10.3%</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0.680</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Asian</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116</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0.674</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Unknown</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447</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tc>
                  <a:txBody>
                    <a:bodyPr/>
                    <a:lstStyle/>
                    <a:p>
                      <a:pPr marL="0" indent="0">
                        <a:buNone/>
                      </a:pPr>
                      <a:r>
                        <a:rPr lang="en-US" sz="1000" dirty="0">
                          <a:solidFill>
                            <a:srgbClr val="1A2F2F"/>
                          </a:solidFill>
                          <a:latin typeface="Calibri" pitchFamily="34" charset="0"/>
                          <a:ea typeface="Calibri" pitchFamily="34" charset="-122"/>
                          <a:cs typeface="Calibri" pitchFamily="34" charset="-120"/>
                        </a:rPr>
                        <a:t>0.644</a:t>
                      </a:r>
                      <a:endParaRPr lang="en-US" sz="10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AFA"/>
                    </a:solidFill>
                  </a:tcPr>
                </a:tc>
                <a:extLst>
                  <a:ext uri="{0D108BD9-81ED-4DB2-BD59-A6C34878D82A}">
                    <a16:rowId xmlns:a16="http://schemas.microsoft.com/office/drawing/2014/main" val="10005"/>
                  </a:ext>
                </a:extLst>
              </a:tr>
            </a:tbl>
          </a:graphicData>
        </a:graphic>
      </p:graphicFrame>
      <p:sp>
        <p:nvSpPr>
          <p:cNvPr id="5" name="Shape 1"/>
          <p:cNvSpPr/>
          <p:nvPr/>
        </p:nvSpPr>
        <p:spPr>
          <a:xfrm>
            <a:off x="640080" y="3931920"/>
            <a:ext cx="7863840" cy="731520"/>
          </a:xfrm>
          <a:prstGeom prst="rect">
            <a:avLst/>
          </a:prstGeom>
          <a:solidFill>
            <a:srgbClr val="F0FFF5"/>
          </a:solidFill>
          <a:ln/>
          <a:effectLst>
            <a:outerShdw blurRad="76200" dist="25400" dir="8100000" algn="bl" rotWithShape="0">
              <a:srgbClr val="000000">
                <a:alpha val="12000"/>
              </a:srgbClr>
            </a:outerShdw>
          </a:effectLst>
        </p:spPr>
        <p:txBody>
          <a:bodyPr/>
          <a:lstStyle/>
          <a:p>
            <a:endParaRPr lang="en-US"/>
          </a:p>
        </p:txBody>
      </p:sp>
      <p:pic>
        <p:nvPicPr>
          <p:cNvPr id="6" name="Image 1" descr="preencoded.png"/>
          <p:cNvPicPr>
            <a:picLocks noChangeAspect="1"/>
          </p:cNvPicPr>
          <p:nvPr/>
        </p:nvPicPr>
        <p:blipFill>
          <a:blip r:embed="rId4"/>
          <a:stretch>
            <a:fillRect/>
          </a:stretch>
        </p:blipFill>
        <p:spPr>
          <a:xfrm>
            <a:off x="822960" y="4069080"/>
            <a:ext cx="320040" cy="320040"/>
          </a:xfrm>
          <a:prstGeom prst="rect">
            <a:avLst/>
          </a:prstGeom>
        </p:spPr>
      </p:pic>
      <p:sp>
        <p:nvSpPr>
          <p:cNvPr id="7" name="Text 2"/>
          <p:cNvSpPr/>
          <p:nvPr/>
        </p:nvSpPr>
        <p:spPr>
          <a:xfrm>
            <a:off x="1280160" y="3931920"/>
            <a:ext cx="7040880" cy="731520"/>
          </a:xfrm>
          <a:prstGeom prst="rect">
            <a:avLst/>
          </a:prstGeom>
          <a:noFill/>
          <a:ln/>
        </p:spPr>
        <p:txBody>
          <a:bodyPr wrap="square" lIns="0" tIns="0" rIns="0" bIns="0" rtlCol="0" anchor="ctr"/>
          <a:lstStyle/>
          <a:p>
            <a:pPr marL="0" indent="0">
              <a:buNone/>
            </a:pPr>
            <a:r>
              <a:rPr lang="en-US" sz="1200" dirty="0">
                <a:solidFill>
                  <a:srgbClr val="1A2F2F"/>
                </a:solidFill>
                <a:latin typeface="Calibri" pitchFamily="34" charset="0"/>
                <a:ea typeface="Calibri" pitchFamily="34" charset="-122"/>
                <a:cs typeface="Calibri" pitchFamily="34" charset="-120"/>
              </a:rPr>
              <a:t>Max subgroup ROC-AUC gap: −0.029 ✓ — No significant fairness concerns detected. Model performance is consistent across racial subgroups.</a:t>
            </a:r>
            <a:endParaRPr lang="en-US" sz="1200" dirty="0"/>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Operational Outputs</a:t>
            </a:r>
            <a:endParaRPr lang="en-US" sz="3600" dirty="0"/>
          </a:p>
        </p:txBody>
      </p:sp>
      <p:sp>
        <p:nvSpPr>
          <p:cNvPr id="3" name="Shape 1"/>
          <p:cNvSpPr/>
          <p:nvPr/>
        </p:nvSpPr>
        <p:spPr>
          <a:xfrm>
            <a:off x="640080" y="1097280"/>
            <a:ext cx="256032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1691640" y="1234440"/>
            <a:ext cx="457200" cy="457200"/>
          </a:xfrm>
          <a:prstGeom prst="rect">
            <a:avLst/>
          </a:prstGeom>
        </p:spPr>
      </p:pic>
      <p:sp>
        <p:nvSpPr>
          <p:cNvPr id="5" name="Text 2"/>
          <p:cNvSpPr/>
          <p:nvPr/>
        </p:nvSpPr>
        <p:spPr>
          <a:xfrm>
            <a:off x="777240" y="1783080"/>
            <a:ext cx="2286000" cy="320040"/>
          </a:xfrm>
          <a:prstGeom prst="rect">
            <a:avLst/>
          </a:prstGeom>
          <a:noFill/>
          <a:ln/>
        </p:spPr>
        <p:txBody>
          <a:bodyPr wrap="square" lIns="0" tIns="0" rIns="0" bIns="0" rtlCol="0" anchor="ctr"/>
          <a:lstStyle/>
          <a:p>
            <a:pPr marL="0" indent="0" algn="ctr">
              <a:buNone/>
            </a:pPr>
            <a:r>
              <a:rPr lang="en-US" sz="1300" b="1" dirty="0">
                <a:solidFill>
                  <a:srgbClr val="1A2F2F"/>
                </a:solidFill>
                <a:latin typeface="Calibri" pitchFamily="34" charset="0"/>
                <a:ea typeface="Calibri" pitchFamily="34" charset="-122"/>
                <a:cs typeface="Calibri" pitchFamily="34" charset="-120"/>
              </a:rPr>
              <a:t>Risk Probability</a:t>
            </a:r>
            <a:endParaRPr lang="en-US" sz="1300" dirty="0"/>
          </a:p>
        </p:txBody>
      </p:sp>
      <p:sp>
        <p:nvSpPr>
          <p:cNvPr id="6" name="Text 3"/>
          <p:cNvSpPr/>
          <p:nvPr/>
        </p:nvSpPr>
        <p:spPr>
          <a:xfrm>
            <a:off x="777240" y="2148840"/>
            <a:ext cx="2286000" cy="457200"/>
          </a:xfrm>
          <a:prstGeom prst="rect">
            <a:avLst/>
          </a:prstGeom>
          <a:noFill/>
          <a:ln/>
        </p:spPr>
        <p:txBody>
          <a:bodyPr wrap="square" lIns="0" tIns="0" rIns="0" bIns="0" rtlCol="0" anchor="ctr"/>
          <a:lstStyle/>
          <a:p>
            <a:pPr marL="0" indent="0" algn="ctr">
              <a:buNone/>
            </a:pPr>
            <a:r>
              <a:rPr lang="en-US" sz="1050" dirty="0">
                <a:solidFill>
                  <a:srgbClr val="5A7A7A"/>
                </a:solidFill>
                <a:latin typeface="Calibri" pitchFamily="34" charset="0"/>
                <a:ea typeface="Calibri" pitchFamily="34" charset="-122"/>
                <a:cs typeface="Calibri" pitchFamily="34" charset="-120"/>
              </a:rPr>
              <a:t>0–1 score for each patient at discharge</a:t>
            </a:r>
            <a:endParaRPr lang="en-US" sz="1050" dirty="0"/>
          </a:p>
        </p:txBody>
      </p:sp>
      <p:sp>
        <p:nvSpPr>
          <p:cNvPr id="7" name="Shape 4"/>
          <p:cNvSpPr/>
          <p:nvPr/>
        </p:nvSpPr>
        <p:spPr>
          <a:xfrm>
            <a:off x="3474720" y="1097280"/>
            <a:ext cx="256032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4526280" y="1234440"/>
            <a:ext cx="457200" cy="457200"/>
          </a:xfrm>
          <a:prstGeom prst="rect">
            <a:avLst/>
          </a:prstGeom>
        </p:spPr>
      </p:pic>
      <p:sp>
        <p:nvSpPr>
          <p:cNvPr id="9" name="Text 5"/>
          <p:cNvSpPr/>
          <p:nvPr/>
        </p:nvSpPr>
        <p:spPr>
          <a:xfrm>
            <a:off x="3611880" y="1783080"/>
            <a:ext cx="2286000" cy="320040"/>
          </a:xfrm>
          <a:prstGeom prst="rect">
            <a:avLst/>
          </a:prstGeom>
          <a:noFill/>
          <a:ln/>
        </p:spPr>
        <p:txBody>
          <a:bodyPr wrap="square" lIns="0" tIns="0" rIns="0" bIns="0" rtlCol="0" anchor="ctr"/>
          <a:lstStyle/>
          <a:p>
            <a:pPr marL="0" indent="0" algn="ctr">
              <a:buNone/>
            </a:pPr>
            <a:r>
              <a:rPr lang="en-US" sz="1300" b="1" dirty="0">
                <a:solidFill>
                  <a:srgbClr val="1A2F2F"/>
                </a:solidFill>
                <a:latin typeface="Calibri" pitchFamily="34" charset="0"/>
                <a:ea typeface="Calibri" pitchFamily="34" charset="-122"/>
                <a:cs typeface="Calibri" pitchFamily="34" charset="-120"/>
              </a:rPr>
              <a:t>Risk Tiers</a:t>
            </a:r>
            <a:endParaRPr lang="en-US" sz="1300" dirty="0"/>
          </a:p>
        </p:txBody>
      </p:sp>
      <p:sp>
        <p:nvSpPr>
          <p:cNvPr id="10" name="Text 6"/>
          <p:cNvSpPr/>
          <p:nvPr/>
        </p:nvSpPr>
        <p:spPr>
          <a:xfrm>
            <a:off x="3611880" y="2148840"/>
            <a:ext cx="2286000" cy="457200"/>
          </a:xfrm>
          <a:prstGeom prst="rect">
            <a:avLst/>
          </a:prstGeom>
          <a:noFill/>
          <a:ln/>
        </p:spPr>
        <p:txBody>
          <a:bodyPr wrap="square" lIns="0" tIns="0" rIns="0" bIns="0" rtlCol="0" anchor="ctr"/>
          <a:lstStyle/>
          <a:p>
            <a:pPr marL="0" indent="0" algn="ctr">
              <a:buNone/>
            </a:pPr>
            <a:r>
              <a:rPr lang="en-US" sz="1050" dirty="0">
                <a:solidFill>
                  <a:srgbClr val="5A7A7A"/>
                </a:solidFill>
                <a:latin typeface="Calibri" pitchFamily="34" charset="0"/>
                <a:ea typeface="Calibri" pitchFamily="34" charset="-122"/>
                <a:cs typeface="Calibri" pitchFamily="34" charset="-120"/>
              </a:rPr>
              <a:t>Low / Medium / High based on percentile thresholds (15th, 85th)</a:t>
            </a:r>
            <a:endParaRPr lang="en-US" sz="1050" dirty="0"/>
          </a:p>
        </p:txBody>
      </p:sp>
      <p:sp>
        <p:nvSpPr>
          <p:cNvPr id="11" name="Shape 7"/>
          <p:cNvSpPr/>
          <p:nvPr/>
        </p:nvSpPr>
        <p:spPr>
          <a:xfrm>
            <a:off x="6309360" y="1097280"/>
            <a:ext cx="256032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7360920" y="1234440"/>
            <a:ext cx="457200" cy="457200"/>
          </a:xfrm>
          <a:prstGeom prst="rect">
            <a:avLst/>
          </a:prstGeom>
        </p:spPr>
      </p:pic>
      <p:sp>
        <p:nvSpPr>
          <p:cNvPr id="13" name="Text 8"/>
          <p:cNvSpPr/>
          <p:nvPr/>
        </p:nvSpPr>
        <p:spPr>
          <a:xfrm>
            <a:off x="6446520" y="1783080"/>
            <a:ext cx="2286000" cy="320040"/>
          </a:xfrm>
          <a:prstGeom prst="rect">
            <a:avLst/>
          </a:prstGeom>
          <a:noFill/>
          <a:ln/>
        </p:spPr>
        <p:txBody>
          <a:bodyPr wrap="square" lIns="0" tIns="0" rIns="0" bIns="0" rtlCol="0" anchor="ctr"/>
          <a:lstStyle/>
          <a:p>
            <a:pPr marL="0" indent="0" algn="ctr">
              <a:buNone/>
            </a:pPr>
            <a:r>
              <a:rPr lang="en-US" sz="1300" b="1" dirty="0">
                <a:solidFill>
                  <a:srgbClr val="1A2F2F"/>
                </a:solidFill>
                <a:latin typeface="Calibri" pitchFamily="34" charset="0"/>
                <a:ea typeface="Calibri" pitchFamily="34" charset="-122"/>
                <a:cs typeface="Calibri" pitchFamily="34" charset="-120"/>
              </a:rPr>
              <a:t>Top-K Outreach List</a:t>
            </a:r>
            <a:endParaRPr lang="en-US" sz="1300" dirty="0"/>
          </a:p>
        </p:txBody>
      </p:sp>
      <p:sp>
        <p:nvSpPr>
          <p:cNvPr id="14" name="Text 9"/>
          <p:cNvSpPr/>
          <p:nvPr/>
        </p:nvSpPr>
        <p:spPr>
          <a:xfrm>
            <a:off x="6446520" y="2148840"/>
            <a:ext cx="2286000" cy="457200"/>
          </a:xfrm>
          <a:prstGeom prst="rect">
            <a:avLst/>
          </a:prstGeom>
          <a:noFill/>
          <a:ln/>
        </p:spPr>
        <p:txBody>
          <a:bodyPr wrap="square" lIns="0" tIns="0" rIns="0" bIns="0" rtlCol="0" anchor="ctr"/>
          <a:lstStyle/>
          <a:p>
            <a:pPr marL="0" indent="0" algn="ctr">
              <a:buNone/>
            </a:pPr>
            <a:r>
              <a:rPr lang="en-US" sz="1050" dirty="0">
                <a:solidFill>
                  <a:srgbClr val="5A7A7A"/>
                </a:solidFill>
                <a:latin typeface="Calibri" pitchFamily="34" charset="0"/>
                <a:ea typeface="Calibri" pitchFamily="34" charset="-122"/>
                <a:cs typeface="Calibri" pitchFamily="34" charset="-120"/>
              </a:rPr>
              <a:t>Prioritized list for care-management with SHAP explanations per patient</a:t>
            </a:r>
            <a:endParaRPr lang="en-US" sz="1050" dirty="0"/>
          </a:p>
        </p:txBody>
      </p:sp>
      <p:pic>
        <p:nvPicPr>
          <p:cNvPr id="15" name="Image 3" descr="preencoded.png"/>
          <p:cNvPicPr>
            <a:picLocks noChangeAspect="1"/>
          </p:cNvPicPr>
          <p:nvPr/>
        </p:nvPicPr>
        <p:blipFill>
          <a:blip r:embed="rId6"/>
          <a:stretch>
            <a:fillRect/>
          </a:stretch>
        </p:blipFill>
        <p:spPr>
          <a:xfrm>
            <a:off x="457200" y="2926080"/>
            <a:ext cx="4572000" cy="2103120"/>
          </a:xfrm>
          <a:prstGeom prst="rect">
            <a:avLst/>
          </a:prstGeom>
        </p:spPr>
      </p:pic>
      <p:sp>
        <p:nvSpPr>
          <p:cNvPr id="16" name="Shape 10"/>
          <p:cNvSpPr/>
          <p:nvPr/>
        </p:nvSpPr>
        <p:spPr>
          <a:xfrm>
            <a:off x="5212080" y="2926080"/>
            <a:ext cx="3657600" cy="2103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17" name="Image 4" descr="preencoded.png"/>
          <p:cNvPicPr>
            <a:picLocks noChangeAspect="1"/>
          </p:cNvPicPr>
          <p:nvPr/>
        </p:nvPicPr>
        <p:blipFill>
          <a:blip r:embed="rId7"/>
          <a:stretch>
            <a:fillRect/>
          </a:stretch>
        </p:blipFill>
        <p:spPr>
          <a:xfrm>
            <a:off x="5943600" y="3108960"/>
            <a:ext cx="457200" cy="457200"/>
          </a:xfrm>
          <a:prstGeom prst="rect">
            <a:avLst/>
          </a:prstGeom>
        </p:spPr>
      </p:pic>
      <p:sp>
        <p:nvSpPr>
          <p:cNvPr id="18" name="Text 11"/>
          <p:cNvSpPr/>
          <p:nvPr/>
        </p:nvSpPr>
        <p:spPr>
          <a:xfrm>
            <a:off x="5394960" y="3611880"/>
            <a:ext cx="3291840" cy="320040"/>
          </a:xfrm>
          <a:prstGeom prst="rect">
            <a:avLst/>
          </a:prstGeom>
          <a:noFill/>
          <a:ln/>
        </p:spPr>
        <p:txBody>
          <a:bodyPr wrap="square" lIns="0" tIns="0" rIns="0" bIns="0" rtlCol="0" anchor="ctr"/>
          <a:lstStyle/>
          <a:p>
            <a:pPr marL="0" indent="0" algn="ctr">
              <a:buNone/>
            </a:pPr>
            <a:r>
              <a:rPr lang="en-US" sz="1400" b="1" dirty="0">
                <a:solidFill>
                  <a:srgbClr val="1A2F2F"/>
                </a:solidFill>
                <a:latin typeface="Georgia" pitchFamily="34" charset="0"/>
                <a:ea typeface="Georgia" pitchFamily="34" charset="-122"/>
                <a:cs typeface="Georgia" pitchFamily="34" charset="-120"/>
              </a:rPr>
              <a:t>Key Result</a:t>
            </a:r>
            <a:endParaRPr lang="en-US" sz="1400" dirty="0"/>
          </a:p>
        </p:txBody>
      </p:sp>
      <p:sp>
        <p:nvSpPr>
          <p:cNvPr id="19" name="Text 12"/>
          <p:cNvSpPr/>
          <p:nvPr/>
        </p:nvSpPr>
        <p:spPr>
          <a:xfrm>
            <a:off x="5394960" y="3977640"/>
            <a:ext cx="3291840" cy="914400"/>
          </a:xfrm>
          <a:prstGeom prst="rect">
            <a:avLst/>
          </a:prstGeom>
          <a:noFill/>
          <a:ln/>
        </p:spPr>
        <p:txBody>
          <a:bodyPr wrap="square" lIns="0" tIns="0" rIns="0" bIns="0" rtlCol="0" anchor="ctr"/>
          <a:lstStyle/>
          <a:p>
            <a:pPr marL="0" indent="0" algn="ctr">
              <a:buNone/>
            </a:pPr>
            <a:r>
              <a:rPr lang="en-US" sz="1150" dirty="0">
                <a:solidFill>
                  <a:srgbClr val="5A7A7A"/>
                </a:solidFill>
                <a:latin typeface="Calibri" pitchFamily="34" charset="0"/>
                <a:ea typeface="Calibri" pitchFamily="34" charset="-122"/>
                <a:cs typeface="Calibri" pitchFamily="34" charset="-120"/>
              </a:rPr>
              <a:t>By contacting the top 10% of patients by risk score, we capture 26% of all 30-day readmissions — a 2.6x lift over random selection.</a:t>
            </a:r>
            <a:endParaRPr lang="en-US" sz="1150" dirty="0"/>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5F4"/>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marL="0" indent="0">
              <a:buNone/>
            </a:pPr>
            <a:r>
              <a:rPr lang="en-US" sz="3600" b="1" dirty="0">
                <a:solidFill>
                  <a:srgbClr val="1A2F2F"/>
                </a:solidFill>
                <a:latin typeface="Georgia" pitchFamily="34" charset="0"/>
                <a:ea typeface="Georgia" pitchFamily="34" charset="-122"/>
                <a:cs typeface="Georgia" pitchFamily="34" charset="-120"/>
              </a:rPr>
              <a:t>Classification at Top-10% Threshold</a:t>
            </a:r>
            <a:endParaRPr lang="en-US" sz="3600" dirty="0"/>
          </a:p>
        </p:txBody>
      </p:sp>
      <p:pic>
        <p:nvPicPr>
          <p:cNvPr id="3" name="Image 0" descr="preencoded.png"/>
          <p:cNvPicPr>
            <a:picLocks noChangeAspect="1"/>
          </p:cNvPicPr>
          <p:nvPr/>
        </p:nvPicPr>
        <p:blipFill>
          <a:blip r:embed="rId3"/>
          <a:stretch>
            <a:fillRect/>
          </a:stretch>
        </p:blipFill>
        <p:spPr>
          <a:xfrm>
            <a:off x="274320" y="1280160"/>
            <a:ext cx="4572000" cy="3200400"/>
          </a:xfrm>
          <a:prstGeom prst="rect">
            <a:avLst/>
          </a:prstGeom>
        </p:spPr>
      </p:pic>
      <p:sp>
        <p:nvSpPr>
          <p:cNvPr id="4" name="Shape 1"/>
          <p:cNvSpPr/>
          <p:nvPr/>
        </p:nvSpPr>
        <p:spPr>
          <a:xfrm>
            <a:off x="4973541" y="1280160"/>
            <a:ext cx="384048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Text 2"/>
          <p:cNvSpPr/>
          <p:nvPr/>
        </p:nvSpPr>
        <p:spPr>
          <a:xfrm>
            <a:off x="5156421" y="1280160"/>
            <a:ext cx="3474720" cy="365760"/>
          </a:xfrm>
          <a:prstGeom prst="rect">
            <a:avLst/>
          </a:prstGeom>
          <a:noFill/>
          <a:ln/>
        </p:spPr>
        <p:txBody>
          <a:bodyPr wrap="square" lIns="0" tIns="0" rIns="0" bIns="0" rtlCol="0" anchor="ctr"/>
          <a:lstStyle/>
          <a:p>
            <a:pPr marL="0" indent="0">
              <a:buNone/>
            </a:pPr>
            <a:r>
              <a:rPr lang="en-US" sz="1400" b="1" dirty="0">
                <a:solidFill>
                  <a:srgbClr val="1A2F2F"/>
                </a:solidFill>
                <a:latin typeface="Georgia" pitchFamily="34" charset="0"/>
                <a:ea typeface="Georgia" pitchFamily="34" charset="-122"/>
                <a:cs typeface="Georgia" pitchFamily="34" charset="-120"/>
              </a:rPr>
              <a:t>Classification Report (top 10%)</a:t>
            </a:r>
            <a:endParaRPr lang="en-US" sz="1400" dirty="0"/>
          </a:p>
        </p:txBody>
      </p:sp>
      <p:sp>
        <p:nvSpPr>
          <p:cNvPr id="6" name="Text 3"/>
          <p:cNvSpPr/>
          <p:nvPr/>
        </p:nvSpPr>
        <p:spPr>
          <a:xfrm>
            <a:off x="5212080" y="1554480"/>
            <a:ext cx="3474720" cy="2286000"/>
          </a:xfrm>
          <a:prstGeom prst="rect">
            <a:avLst/>
          </a:prstGeom>
          <a:noFill/>
          <a:ln/>
        </p:spPr>
        <p:txBody>
          <a:bodyPr wrap="square" lIns="0" tIns="0" rIns="0" bIns="0" rtlCol="0" anchor="ctr"/>
          <a:lstStyle/>
          <a:p>
            <a:pPr marL="0" indent="0">
              <a:buNone/>
            </a:pPr>
            <a:r>
              <a:rPr lang="en-US" sz="1200" b="1" dirty="0">
                <a:solidFill>
                  <a:srgbClr val="1A2F2F"/>
                </a:solidFill>
                <a:latin typeface="Calibri" pitchFamily="34" charset="0"/>
                <a:ea typeface="Calibri" pitchFamily="34" charset="-122"/>
                <a:cs typeface="Calibri" pitchFamily="34" charset="-120"/>
              </a:rPr>
              <a:t>Precision (readmitted): </a:t>
            </a:r>
            <a:r>
              <a:rPr lang="en-US" sz="1200" b="1" dirty="0">
                <a:solidFill>
                  <a:srgbClr val="00B4A6"/>
                </a:solidFill>
                <a:latin typeface="Calibri" pitchFamily="34" charset="0"/>
                <a:ea typeface="Calibri" pitchFamily="34" charset="-122"/>
                <a:cs typeface="Calibri" pitchFamily="34" charset="-120"/>
              </a:rPr>
              <a:t>30%</a:t>
            </a:r>
            <a:endParaRPr lang="en-US" sz="1200" dirty="0"/>
          </a:p>
          <a:p>
            <a:pPr marL="0" indent="0">
              <a:buNone/>
            </a:pPr>
            <a:r>
              <a:rPr lang="en-US" sz="1200" b="1" dirty="0">
                <a:solidFill>
                  <a:srgbClr val="1A2F2F"/>
                </a:solidFill>
                <a:latin typeface="Calibri" pitchFamily="34" charset="0"/>
                <a:ea typeface="Calibri" pitchFamily="34" charset="-122"/>
                <a:cs typeface="Calibri" pitchFamily="34" charset="-120"/>
              </a:rPr>
              <a:t>Recall (readmitted): </a:t>
            </a:r>
            <a:r>
              <a:rPr lang="en-US" sz="1200" b="1" dirty="0">
                <a:solidFill>
                  <a:srgbClr val="00B4A6"/>
                </a:solidFill>
                <a:latin typeface="Calibri" pitchFamily="34" charset="0"/>
                <a:ea typeface="Calibri" pitchFamily="34" charset="-122"/>
                <a:cs typeface="Calibri" pitchFamily="34" charset="-120"/>
              </a:rPr>
              <a:t>26%</a:t>
            </a:r>
            <a:endParaRPr lang="en-US" sz="1200" dirty="0"/>
          </a:p>
          <a:p>
            <a:pPr marL="0" indent="0">
              <a:buNone/>
            </a:pPr>
            <a:r>
              <a:rPr lang="en-US" sz="1200" b="1" dirty="0">
                <a:solidFill>
                  <a:srgbClr val="1A2F2F"/>
                </a:solidFill>
                <a:latin typeface="Calibri" pitchFamily="34" charset="0"/>
                <a:ea typeface="Calibri" pitchFamily="34" charset="-122"/>
                <a:cs typeface="Calibri" pitchFamily="34" charset="-120"/>
              </a:rPr>
              <a:t>Overall accuracy: </a:t>
            </a:r>
            <a:r>
              <a:rPr lang="en-US" sz="1200" b="1" dirty="0">
                <a:solidFill>
                  <a:srgbClr val="00B4A6"/>
                </a:solidFill>
                <a:latin typeface="Calibri" pitchFamily="34" charset="0"/>
                <a:ea typeface="Calibri" pitchFamily="34" charset="-122"/>
                <a:cs typeface="Calibri" pitchFamily="34" charset="-120"/>
              </a:rPr>
              <a:t>85%</a:t>
            </a:r>
            <a:endParaRPr lang="en-US" sz="1200" dirty="0"/>
          </a:p>
          <a:p>
            <a:pPr marL="0" indent="0">
              <a:buNone/>
            </a:pPr>
            <a:endParaRPr lang="en-US" sz="1200" dirty="0"/>
          </a:p>
          <a:p>
            <a:pPr marL="0" indent="0">
              <a:buNone/>
            </a:pPr>
            <a:r>
              <a:rPr lang="en-US" sz="1100" dirty="0">
                <a:solidFill>
                  <a:srgbClr val="5A7A7A"/>
                </a:solidFill>
                <a:latin typeface="Calibri" pitchFamily="34" charset="0"/>
                <a:ea typeface="Calibri" pitchFamily="34" charset="-122"/>
                <a:cs typeface="Calibri" pitchFamily="34" charset="-120"/>
              </a:rPr>
              <a:t>At the top-10% threshold, nearly 1 in 3 flagged patients is a true readmission — meaningful for targeted outreach.</a:t>
            </a:r>
            <a:endParaRPr lang="en-US" sz="1200" dirty="0"/>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B2B"/>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Key Takeaways</a:t>
            </a:r>
            <a:endParaRPr lang="en-US" sz="3600" dirty="0"/>
          </a:p>
        </p:txBody>
      </p:sp>
      <p:sp>
        <p:nvSpPr>
          <p:cNvPr id="3" name="Shape 1"/>
          <p:cNvSpPr/>
          <p:nvPr/>
        </p:nvSpPr>
        <p:spPr>
          <a:xfrm>
            <a:off x="640080" y="1371600"/>
            <a:ext cx="7863840" cy="548640"/>
          </a:xfrm>
          <a:prstGeom prst="rect">
            <a:avLst/>
          </a:prstGeom>
          <a:solidFill>
            <a:srgbClr val="133D3D"/>
          </a:solidFill>
          <a:ln/>
          <a:effectLst>
            <a:outerShdw blurRad="76200" dist="25400" dir="8100000" algn="bl" rotWithShape="0">
              <a:srgbClr val="000000">
                <a:alpha val="1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822960" y="1490472"/>
            <a:ext cx="292608" cy="292608"/>
          </a:xfrm>
          <a:prstGeom prst="rect">
            <a:avLst/>
          </a:prstGeom>
        </p:spPr>
      </p:pic>
      <p:sp>
        <p:nvSpPr>
          <p:cNvPr id="5" name="Text 2"/>
          <p:cNvSpPr/>
          <p:nvPr/>
        </p:nvSpPr>
        <p:spPr>
          <a:xfrm>
            <a:off x="1280160" y="1371600"/>
            <a:ext cx="704088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LightGBM is the winning model — best PR-AUC (0.237) with strong operational lift (2.6x at top 10%)</a:t>
            </a:r>
            <a:endParaRPr lang="en-US" sz="1250" dirty="0"/>
          </a:p>
        </p:txBody>
      </p:sp>
      <p:sp>
        <p:nvSpPr>
          <p:cNvPr id="6" name="Shape 3"/>
          <p:cNvSpPr/>
          <p:nvPr/>
        </p:nvSpPr>
        <p:spPr>
          <a:xfrm>
            <a:off x="640080" y="2057400"/>
            <a:ext cx="7863840" cy="548640"/>
          </a:xfrm>
          <a:prstGeom prst="rect">
            <a:avLst/>
          </a:prstGeom>
          <a:solidFill>
            <a:srgbClr val="133D3D"/>
          </a:solidFill>
          <a:ln/>
          <a:effectLst>
            <a:outerShdw blurRad="76200" dist="25400" dir="8100000" algn="bl" rotWithShape="0">
              <a:srgbClr val="000000">
                <a:alpha val="12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822960" y="2176272"/>
            <a:ext cx="292608" cy="292608"/>
          </a:xfrm>
          <a:prstGeom prst="rect">
            <a:avLst/>
          </a:prstGeom>
        </p:spPr>
      </p:pic>
      <p:sp>
        <p:nvSpPr>
          <p:cNvPr id="8" name="Text 4"/>
          <p:cNvSpPr/>
          <p:nvPr/>
        </p:nvSpPr>
        <p:spPr>
          <a:xfrm>
            <a:off x="1280160" y="2057400"/>
            <a:ext cx="704088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Isotonic calibration reduced Brier score from 0.213 to 0.092 — risk scores are now actionable</a:t>
            </a:r>
            <a:endParaRPr lang="en-US" sz="1250" dirty="0"/>
          </a:p>
        </p:txBody>
      </p:sp>
      <p:sp>
        <p:nvSpPr>
          <p:cNvPr id="9" name="Shape 5"/>
          <p:cNvSpPr/>
          <p:nvPr/>
        </p:nvSpPr>
        <p:spPr>
          <a:xfrm>
            <a:off x="640080" y="2743200"/>
            <a:ext cx="7863840" cy="548640"/>
          </a:xfrm>
          <a:prstGeom prst="rect">
            <a:avLst/>
          </a:prstGeom>
          <a:solidFill>
            <a:srgbClr val="133D3D"/>
          </a:solidFill>
          <a:ln/>
          <a:effectLst>
            <a:outerShdw blurRad="76200" dist="25400" dir="8100000" algn="bl" rotWithShape="0">
              <a:srgbClr val="000000">
                <a:alpha val="12000"/>
              </a:srgbClr>
            </a:outerShdw>
          </a:effectLst>
        </p:spPr>
        <p:txBody>
          <a:bodyPr/>
          <a:lstStyle/>
          <a:p>
            <a:endParaRPr lang="en-US"/>
          </a:p>
        </p:txBody>
      </p:sp>
      <p:pic>
        <p:nvPicPr>
          <p:cNvPr id="10" name="Image 2" descr="preencoded.png"/>
          <p:cNvPicPr>
            <a:picLocks noChangeAspect="1"/>
          </p:cNvPicPr>
          <p:nvPr/>
        </p:nvPicPr>
        <p:blipFill>
          <a:blip r:embed="rId3"/>
          <a:stretch>
            <a:fillRect/>
          </a:stretch>
        </p:blipFill>
        <p:spPr>
          <a:xfrm>
            <a:off x="822960" y="2862072"/>
            <a:ext cx="292608" cy="292608"/>
          </a:xfrm>
          <a:prstGeom prst="rect">
            <a:avLst/>
          </a:prstGeom>
        </p:spPr>
      </p:pic>
      <p:sp>
        <p:nvSpPr>
          <p:cNvPr id="11" name="Text 6"/>
          <p:cNvSpPr/>
          <p:nvPr/>
        </p:nvSpPr>
        <p:spPr>
          <a:xfrm>
            <a:off x="1280160" y="2743200"/>
            <a:ext cx="704088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SHAP provides global and per-patient explanations — clinicians can see why each patient was flagged</a:t>
            </a:r>
            <a:endParaRPr lang="en-US" sz="1250" dirty="0"/>
          </a:p>
        </p:txBody>
      </p:sp>
      <p:sp>
        <p:nvSpPr>
          <p:cNvPr id="12" name="Shape 7"/>
          <p:cNvSpPr/>
          <p:nvPr/>
        </p:nvSpPr>
        <p:spPr>
          <a:xfrm>
            <a:off x="640080" y="3429000"/>
            <a:ext cx="7863840" cy="548640"/>
          </a:xfrm>
          <a:prstGeom prst="rect">
            <a:avLst/>
          </a:prstGeom>
          <a:solidFill>
            <a:srgbClr val="133D3D"/>
          </a:solidFill>
          <a:ln/>
          <a:effectLst>
            <a:outerShdw blurRad="76200" dist="25400" dir="8100000" algn="bl" rotWithShape="0">
              <a:srgbClr val="000000">
                <a:alpha val="12000"/>
              </a:srgbClr>
            </a:outerShdw>
          </a:effectLst>
        </p:spPr>
        <p:txBody>
          <a:bodyPr/>
          <a:lstStyle/>
          <a:p>
            <a:endParaRPr lang="en-US"/>
          </a:p>
        </p:txBody>
      </p:sp>
      <p:pic>
        <p:nvPicPr>
          <p:cNvPr id="13" name="Image 3" descr="preencoded.png"/>
          <p:cNvPicPr>
            <a:picLocks noChangeAspect="1"/>
          </p:cNvPicPr>
          <p:nvPr/>
        </p:nvPicPr>
        <p:blipFill>
          <a:blip r:embed="rId3"/>
          <a:stretch>
            <a:fillRect/>
          </a:stretch>
        </p:blipFill>
        <p:spPr>
          <a:xfrm>
            <a:off x="822960" y="3547872"/>
            <a:ext cx="292608" cy="292608"/>
          </a:xfrm>
          <a:prstGeom prst="rect">
            <a:avLst/>
          </a:prstGeom>
        </p:spPr>
      </p:pic>
      <p:sp>
        <p:nvSpPr>
          <p:cNvPr id="14" name="Text 8"/>
          <p:cNvSpPr/>
          <p:nvPr/>
        </p:nvSpPr>
        <p:spPr>
          <a:xfrm>
            <a:off x="1280160" y="3429000"/>
            <a:ext cx="704088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Fairness audit shows no significant subgroup disparities (max gap: −0.03 ROC-AUC)</a:t>
            </a:r>
            <a:endParaRPr lang="en-US" sz="1250" dirty="0"/>
          </a:p>
        </p:txBody>
      </p:sp>
      <p:sp>
        <p:nvSpPr>
          <p:cNvPr id="15" name="Shape 9"/>
          <p:cNvSpPr/>
          <p:nvPr/>
        </p:nvSpPr>
        <p:spPr>
          <a:xfrm>
            <a:off x="640080" y="4114800"/>
            <a:ext cx="7863840" cy="548640"/>
          </a:xfrm>
          <a:prstGeom prst="rect">
            <a:avLst/>
          </a:prstGeom>
          <a:solidFill>
            <a:srgbClr val="133D3D"/>
          </a:solidFill>
          <a:ln/>
          <a:effectLst>
            <a:outerShdw blurRad="76200" dist="25400" dir="8100000" algn="bl" rotWithShape="0">
              <a:srgbClr val="000000">
                <a:alpha val="12000"/>
              </a:srgbClr>
            </a:outerShdw>
          </a:effectLst>
        </p:spPr>
        <p:txBody>
          <a:bodyPr/>
          <a:lstStyle/>
          <a:p>
            <a:endParaRPr lang="en-US"/>
          </a:p>
        </p:txBody>
      </p:sp>
      <p:pic>
        <p:nvPicPr>
          <p:cNvPr id="16" name="Image 4" descr="preencoded.png"/>
          <p:cNvPicPr>
            <a:picLocks noChangeAspect="1"/>
          </p:cNvPicPr>
          <p:nvPr/>
        </p:nvPicPr>
        <p:blipFill>
          <a:blip r:embed="rId3"/>
          <a:stretch>
            <a:fillRect/>
          </a:stretch>
        </p:blipFill>
        <p:spPr>
          <a:xfrm>
            <a:off x="822960" y="4233672"/>
            <a:ext cx="292608" cy="292608"/>
          </a:xfrm>
          <a:prstGeom prst="rect">
            <a:avLst/>
          </a:prstGeom>
        </p:spPr>
      </p:pic>
      <p:sp>
        <p:nvSpPr>
          <p:cNvPr id="17" name="Text 10"/>
          <p:cNvSpPr/>
          <p:nvPr/>
        </p:nvSpPr>
        <p:spPr>
          <a:xfrm>
            <a:off x="1280160" y="4114800"/>
            <a:ext cx="704088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Patient-level grouped split prevents data leakage — results reflect real-world deployment</a:t>
            </a:r>
            <a:endParaRPr lang="en-US" sz="1250" dirty="0"/>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2B2B"/>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Limitations &amp; Next Steps</a:t>
            </a:r>
            <a:endParaRPr lang="en-US" sz="3600" dirty="0"/>
          </a:p>
        </p:txBody>
      </p:sp>
      <p:sp>
        <p:nvSpPr>
          <p:cNvPr id="3" name="Text 1"/>
          <p:cNvSpPr/>
          <p:nvPr/>
        </p:nvSpPr>
        <p:spPr>
          <a:xfrm>
            <a:off x="640080" y="1280160"/>
            <a:ext cx="3840480" cy="365760"/>
          </a:xfrm>
          <a:prstGeom prst="rect">
            <a:avLst/>
          </a:prstGeom>
          <a:noFill/>
          <a:ln/>
        </p:spPr>
        <p:txBody>
          <a:bodyPr wrap="square" lIns="0" tIns="0" rIns="0" bIns="0" rtlCol="0" anchor="ctr"/>
          <a:lstStyle/>
          <a:p>
            <a:pPr marL="0" indent="0">
              <a:buNone/>
            </a:pPr>
            <a:r>
              <a:rPr lang="en-US" sz="1600" b="1" dirty="0">
                <a:solidFill>
                  <a:srgbClr val="FF6B6B"/>
                </a:solidFill>
                <a:latin typeface="Georgia" pitchFamily="34" charset="0"/>
                <a:ea typeface="Georgia" pitchFamily="34" charset="-122"/>
                <a:cs typeface="Georgia" pitchFamily="34" charset="-120"/>
              </a:rPr>
              <a:t>Limitations</a:t>
            </a:r>
            <a:endParaRPr lang="en-US" sz="1600" dirty="0"/>
          </a:p>
        </p:txBody>
      </p:sp>
      <p:pic>
        <p:nvPicPr>
          <p:cNvPr id="4" name="Image 0" descr="preencoded.png"/>
          <p:cNvPicPr>
            <a:picLocks noChangeAspect="1"/>
          </p:cNvPicPr>
          <p:nvPr/>
        </p:nvPicPr>
        <p:blipFill>
          <a:blip r:embed="rId3"/>
          <a:stretch>
            <a:fillRect/>
          </a:stretch>
        </p:blipFill>
        <p:spPr>
          <a:xfrm>
            <a:off x="640080" y="1828800"/>
            <a:ext cx="228600" cy="228600"/>
          </a:xfrm>
          <a:prstGeom prst="rect">
            <a:avLst/>
          </a:prstGeom>
        </p:spPr>
      </p:pic>
      <p:sp>
        <p:nvSpPr>
          <p:cNvPr id="5" name="Text 2"/>
          <p:cNvSpPr/>
          <p:nvPr/>
        </p:nvSpPr>
        <p:spPr>
          <a:xfrm>
            <a:off x="1005840" y="178308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Dataset is from 1999–2008 — clinical practices have evolved</a:t>
            </a:r>
            <a:endParaRPr lang="en-US" sz="1100" dirty="0"/>
          </a:p>
        </p:txBody>
      </p:sp>
      <p:pic>
        <p:nvPicPr>
          <p:cNvPr id="6" name="Image 1" descr="preencoded.png"/>
          <p:cNvPicPr>
            <a:picLocks noChangeAspect="1"/>
          </p:cNvPicPr>
          <p:nvPr/>
        </p:nvPicPr>
        <p:blipFill>
          <a:blip r:embed="rId3"/>
          <a:stretch>
            <a:fillRect/>
          </a:stretch>
        </p:blipFill>
        <p:spPr>
          <a:xfrm>
            <a:off x="640080" y="2423160"/>
            <a:ext cx="228600" cy="228600"/>
          </a:xfrm>
          <a:prstGeom prst="rect">
            <a:avLst/>
          </a:prstGeom>
        </p:spPr>
      </p:pic>
      <p:sp>
        <p:nvSpPr>
          <p:cNvPr id="7" name="Text 3"/>
          <p:cNvSpPr/>
          <p:nvPr/>
        </p:nvSpPr>
        <p:spPr>
          <a:xfrm>
            <a:off x="1005840" y="237744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~11% positive rate limits absolute precision at any threshold</a:t>
            </a:r>
            <a:endParaRPr lang="en-US" sz="1100" dirty="0"/>
          </a:p>
        </p:txBody>
      </p:sp>
      <p:pic>
        <p:nvPicPr>
          <p:cNvPr id="8" name="Image 2" descr="preencoded.png"/>
          <p:cNvPicPr>
            <a:picLocks noChangeAspect="1"/>
          </p:cNvPicPr>
          <p:nvPr/>
        </p:nvPicPr>
        <p:blipFill>
          <a:blip r:embed="rId3"/>
          <a:stretch>
            <a:fillRect/>
          </a:stretch>
        </p:blipFill>
        <p:spPr>
          <a:xfrm>
            <a:off x="640080" y="3017520"/>
            <a:ext cx="228600" cy="228600"/>
          </a:xfrm>
          <a:prstGeom prst="rect">
            <a:avLst/>
          </a:prstGeom>
        </p:spPr>
      </p:pic>
      <p:sp>
        <p:nvSpPr>
          <p:cNvPr id="9" name="Text 4"/>
          <p:cNvSpPr/>
          <p:nvPr/>
        </p:nvSpPr>
        <p:spPr>
          <a:xfrm>
            <a:off x="1005840" y="297180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Missing weight (97%) and payer code — potential signals lost</a:t>
            </a:r>
            <a:endParaRPr lang="en-US" sz="1100" dirty="0"/>
          </a:p>
        </p:txBody>
      </p:sp>
      <p:pic>
        <p:nvPicPr>
          <p:cNvPr id="10" name="Image 3" descr="preencoded.png"/>
          <p:cNvPicPr>
            <a:picLocks noChangeAspect="1"/>
          </p:cNvPicPr>
          <p:nvPr/>
        </p:nvPicPr>
        <p:blipFill>
          <a:blip r:embed="rId3"/>
          <a:stretch>
            <a:fillRect/>
          </a:stretch>
        </p:blipFill>
        <p:spPr>
          <a:xfrm>
            <a:off x="640080" y="3611880"/>
            <a:ext cx="228600" cy="228600"/>
          </a:xfrm>
          <a:prstGeom prst="rect">
            <a:avLst/>
          </a:prstGeom>
        </p:spPr>
      </p:pic>
      <p:sp>
        <p:nvSpPr>
          <p:cNvPr id="11" name="Text 5"/>
          <p:cNvSpPr/>
          <p:nvPr/>
        </p:nvSpPr>
        <p:spPr>
          <a:xfrm>
            <a:off x="1005840" y="356616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No external validation on a separate hospital system</a:t>
            </a:r>
            <a:endParaRPr lang="en-US" sz="1100" dirty="0"/>
          </a:p>
        </p:txBody>
      </p:sp>
      <p:sp>
        <p:nvSpPr>
          <p:cNvPr id="12" name="Text 6"/>
          <p:cNvSpPr/>
          <p:nvPr/>
        </p:nvSpPr>
        <p:spPr>
          <a:xfrm>
            <a:off x="4846320" y="1280160"/>
            <a:ext cx="3840480" cy="365760"/>
          </a:xfrm>
          <a:prstGeom prst="rect">
            <a:avLst/>
          </a:prstGeom>
          <a:noFill/>
          <a:ln/>
        </p:spPr>
        <p:txBody>
          <a:bodyPr wrap="square" lIns="0" tIns="0" rIns="0" bIns="0" rtlCol="0" anchor="ctr"/>
          <a:lstStyle/>
          <a:p>
            <a:pPr marL="0" indent="0">
              <a:buNone/>
            </a:pPr>
            <a:r>
              <a:rPr lang="en-US" sz="1600" b="1" dirty="0">
                <a:solidFill>
                  <a:srgbClr val="00D4AA"/>
                </a:solidFill>
                <a:latin typeface="Georgia" pitchFamily="34" charset="0"/>
                <a:ea typeface="Georgia" pitchFamily="34" charset="-122"/>
                <a:cs typeface="Georgia" pitchFamily="34" charset="-120"/>
              </a:rPr>
              <a:t>Next Steps</a:t>
            </a:r>
            <a:endParaRPr lang="en-US" sz="1600" dirty="0"/>
          </a:p>
        </p:txBody>
      </p:sp>
      <p:pic>
        <p:nvPicPr>
          <p:cNvPr id="13" name="Image 4" descr="preencoded.png"/>
          <p:cNvPicPr>
            <a:picLocks noChangeAspect="1"/>
          </p:cNvPicPr>
          <p:nvPr/>
        </p:nvPicPr>
        <p:blipFill>
          <a:blip r:embed="rId4"/>
          <a:stretch>
            <a:fillRect/>
          </a:stretch>
        </p:blipFill>
        <p:spPr>
          <a:xfrm>
            <a:off x="4846320" y="1828800"/>
            <a:ext cx="228600" cy="228600"/>
          </a:xfrm>
          <a:prstGeom prst="rect">
            <a:avLst/>
          </a:prstGeom>
        </p:spPr>
      </p:pic>
      <p:sp>
        <p:nvSpPr>
          <p:cNvPr id="14" name="Text 7"/>
          <p:cNvSpPr/>
          <p:nvPr/>
        </p:nvSpPr>
        <p:spPr>
          <a:xfrm>
            <a:off x="5212080" y="178308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Hyperparameter tuning (Bayesian optimization)</a:t>
            </a:r>
            <a:endParaRPr lang="en-US" sz="1100" dirty="0"/>
          </a:p>
        </p:txBody>
      </p:sp>
      <p:pic>
        <p:nvPicPr>
          <p:cNvPr id="15" name="Image 5" descr="preencoded.png"/>
          <p:cNvPicPr>
            <a:picLocks noChangeAspect="1"/>
          </p:cNvPicPr>
          <p:nvPr/>
        </p:nvPicPr>
        <p:blipFill>
          <a:blip r:embed="rId4"/>
          <a:stretch>
            <a:fillRect/>
          </a:stretch>
        </p:blipFill>
        <p:spPr>
          <a:xfrm>
            <a:off x="4846320" y="2423160"/>
            <a:ext cx="228600" cy="228600"/>
          </a:xfrm>
          <a:prstGeom prst="rect">
            <a:avLst/>
          </a:prstGeom>
        </p:spPr>
      </p:pic>
      <p:sp>
        <p:nvSpPr>
          <p:cNvPr id="16" name="Text 8"/>
          <p:cNvSpPr/>
          <p:nvPr/>
        </p:nvSpPr>
        <p:spPr>
          <a:xfrm>
            <a:off x="5212080" y="237744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External validation on a different hospital dataset</a:t>
            </a:r>
            <a:endParaRPr lang="en-US" sz="1100" dirty="0"/>
          </a:p>
        </p:txBody>
      </p:sp>
      <p:pic>
        <p:nvPicPr>
          <p:cNvPr id="17" name="Image 6" descr="preencoded.png"/>
          <p:cNvPicPr>
            <a:picLocks noChangeAspect="1"/>
          </p:cNvPicPr>
          <p:nvPr/>
        </p:nvPicPr>
        <p:blipFill>
          <a:blip r:embed="rId4"/>
          <a:stretch>
            <a:fillRect/>
          </a:stretch>
        </p:blipFill>
        <p:spPr>
          <a:xfrm>
            <a:off x="4846320" y="3017520"/>
            <a:ext cx="228600" cy="228600"/>
          </a:xfrm>
          <a:prstGeom prst="rect">
            <a:avLst/>
          </a:prstGeom>
        </p:spPr>
      </p:pic>
      <p:sp>
        <p:nvSpPr>
          <p:cNvPr id="18" name="Text 9"/>
          <p:cNvSpPr/>
          <p:nvPr/>
        </p:nvSpPr>
        <p:spPr>
          <a:xfrm>
            <a:off x="5212080" y="297180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A/B test integration with EHR workflow</a:t>
            </a:r>
            <a:endParaRPr lang="en-US" sz="1100" dirty="0"/>
          </a:p>
        </p:txBody>
      </p:sp>
      <p:pic>
        <p:nvPicPr>
          <p:cNvPr id="19" name="Image 7" descr="preencoded.png"/>
          <p:cNvPicPr>
            <a:picLocks noChangeAspect="1"/>
          </p:cNvPicPr>
          <p:nvPr/>
        </p:nvPicPr>
        <p:blipFill>
          <a:blip r:embed="rId4"/>
          <a:stretch>
            <a:fillRect/>
          </a:stretch>
        </p:blipFill>
        <p:spPr>
          <a:xfrm>
            <a:off x="4846320" y="3611880"/>
            <a:ext cx="228600" cy="228600"/>
          </a:xfrm>
          <a:prstGeom prst="rect">
            <a:avLst/>
          </a:prstGeom>
        </p:spPr>
      </p:pic>
      <p:sp>
        <p:nvSpPr>
          <p:cNvPr id="20" name="Text 10"/>
          <p:cNvSpPr/>
          <p:nvPr/>
        </p:nvSpPr>
        <p:spPr>
          <a:xfrm>
            <a:off x="5212080" y="3566160"/>
            <a:ext cx="3474720" cy="502920"/>
          </a:xfrm>
          <a:prstGeom prst="rect">
            <a:avLst/>
          </a:prstGeom>
          <a:noFill/>
          <a:ln/>
        </p:spPr>
        <p:txBody>
          <a:bodyPr wrap="square" lIns="0" tIns="0" rIns="0" bIns="0" rtlCol="0" anchor="ctr"/>
          <a:lstStyle/>
          <a:p>
            <a:pPr marL="0" indent="0">
              <a:buNone/>
            </a:pPr>
            <a:r>
              <a:rPr lang="en-US" sz="1100" dirty="0">
                <a:solidFill>
                  <a:srgbClr val="E8F0EE"/>
                </a:solidFill>
                <a:latin typeface="Calibri" pitchFamily="34" charset="0"/>
                <a:ea typeface="Calibri" pitchFamily="34" charset="-122"/>
                <a:cs typeface="Calibri" pitchFamily="34" charset="-120"/>
              </a:rPr>
              <a:t>Model monitoring &amp; drift detection in production</a:t>
            </a:r>
            <a:endParaRPr lang="en-US" sz="1100" dirty="0"/>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2B2B"/>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133D3D"/>
          </a:solidFill>
          <a:ln/>
        </p:spPr>
        <p:txBody>
          <a:bodyPr/>
          <a:lstStyle/>
          <a:p>
            <a:endParaRPr lang="en-US"/>
          </a:p>
        </p:txBody>
      </p:sp>
      <p:sp>
        <p:nvSpPr>
          <p:cNvPr id="3" name="Shape 1"/>
          <p:cNvSpPr/>
          <p:nvPr/>
        </p:nvSpPr>
        <p:spPr>
          <a:xfrm>
            <a:off x="7772400" y="-457200"/>
            <a:ext cx="3200400" cy="3200400"/>
          </a:xfrm>
          <a:prstGeom prst="ellipse">
            <a:avLst/>
          </a:prstGeom>
          <a:solidFill>
            <a:srgbClr val="1A4A4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640080" y="640080"/>
            <a:ext cx="548640" cy="548640"/>
          </a:xfrm>
          <a:prstGeom prst="rect">
            <a:avLst/>
          </a:prstGeom>
        </p:spPr>
      </p:pic>
      <p:sp>
        <p:nvSpPr>
          <p:cNvPr id="5" name="Text 2"/>
          <p:cNvSpPr/>
          <p:nvPr/>
        </p:nvSpPr>
        <p:spPr>
          <a:xfrm>
            <a:off x="640080" y="1463040"/>
            <a:ext cx="6400800" cy="13716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6" name="Text 3"/>
          <p:cNvSpPr/>
          <p:nvPr/>
        </p:nvSpPr>
        <p:spPr>
          <a:xfrm>
            <a:off x="640080" y="2834640"/>
            <a:ext cx="6400800" cy="457200"/>
          </a:xfrm>
          <a:prstGeom prst="rect">
            <a:avLst/>
          </a:prstGeom>
          <a:noFill/>
          <a:ln/>
        </p:spPr>
        <p:txBody>
          <a:bodyPr wrap="square" lIns="0" tIns="0" rIns="0" bIns="0" rtlCol="0" anchor="ctr"/>
          <a:lstStyle/>
          <a:p>
            <a:pPr marL="0" indent="0">
              <a:buNone/>
            </a:pPr>
            <a:r>
              <a:rPr lang="en-US" sz="2000" dirty="0">
                <a:solidFill>
                  <a:srgbClr val="00B4A6"/>
                </a:solidFill>
                <a:latin typeface="Calibri" pitchFamily="34" charset="0"/>
                <a:ea typeface="Calibri" pitchFamily="34" charset="-122"/>
                <a:cs typeface="Calibri" pitchFamily="34" charset="-120"/>
              </a:rPr>
              <a:t>Questions &amp; Discussion</a:t>
            </a:r>
            <a:endParaRPr lang="en-US" sz="2000" dirty="0"/>
          </a:p>
        </p:txBody>
      </p:sp>
      <p:sp>
        <p:nvSpPr>
          <p:cNvPr id="7" name="Text 4"/>
          <p:cNvSpPr/>
          <p:nvPr/>
        </p:nvSpPr>
        <p:spPr>
          <a:xfrm>
            <a:off x="640080" y="3657600"/>
            <a:ext cx="7315200" cy="365760"/>
          </a:xfrm>
          <a:prstGeom prst="rect">
            <a:avLst/>
          </a:prstGeom>
          <a:noFill/>
          <a:ln/>
        </p:spPr>
        <p:txBody>
          <a:bodyPr wrap="square" lIns="0" tIns="0" rIns="0" bIns="0" rtlCol="0" anchor="ctr"/>
          <a:lstStyle/>
          <a:p>
            <a:pPr marL="0" indent="0">
              <a:buNone/>
            </a:pPr>
            <a:r>
              <a:rPr lang="en-US" sz="1300" dirty="0">
                <a:solidFill>
                  <a:srgbClr val="E8F0EE"/>
                </a:solidFill>
                <a:latin typeface="Calibri" pitchFamily="34" charset="0"/>
                <a:ea typeface="Calibri" pitchFamily="34" charset="-122"/>
                <a:cs typeface="Calibri" pitchFamily="34" charset="-120"/>
              </a:rPr>
              <a:t>Feroz Khan  ·  Matthieu Lafont  ·  Henry Wolcott  ·  Mustafa Yousaf</a:t>
            </a:r>
            <a:endParaRPr lang="en-US" sz="1300" dirty="0"/>
          </a:p>
        </p:txBody>
      </p:sp>
      <p:pic>
        <p:nvPicPr>
          <p:cNvPr id="8" name="Image 1" descr="preencoded.png"/>
          <p:cNvPicPr>
            <a:picLocks noChangeAspect="1"/>
          </p:cNvPicPr>
          <p:nvPr/>
        </p:nvPicPr>
        <p:blipFill>
          <a:blip r:embed="rId4"/>
          <a:stretch>
            <a:fillRect/>
          </a:stretch>
        </p:blipFill>
        <p:spPr>
          <a:xfrm>
            <a:off x="640080" y="4114800"/>
            <a:ext cx="274320" cy="274320"/>
          </a:xfrm>
          <a:prstGeom prst="rect">
            <a:avLst/>
          </a:prstGeom>
        </p:spPr>
      </p:pic>
      <p:sp>
        <p:nvSpPr>
          <p:cNvPr id="9" name="Text 5"/>
          <p:cNvSpPr/>
          <p:nvPr/>
        </p:nvSpPr>
        <p:spPr>
          <a:xfrm>
            <a:off x="1005840" y="4114800"/>
            <a:ext cx="5486400" cy="274320"/>
          </a:xfrm>
          <a:prstGeom prst="rect">
            <a:avLst/>
          </a:prstGeom>
          <a:noFill/>
          <a:ln/>
        </p:spPr>
        <p:txBody>
          <a:bodyPr wrap="square" lIns="0" tIns="0" rIns="0" bIns="0" rtlCol="0" anchor="ctr"/>
          <a:lstStyle/>
          <a:p>
            <a:pPr marL="0" indent="0">
              <a:buNone/>
            </a:pPr>
            <a:r>
              <a:rPr lang="en-US" sz="1200" dirty="0">
                <a:solidFill>
                  <a:srgbClr val="00B4A6"/>
                </a:solidFill>
                <a:latin typeface="Calibri" pitchFamily="34" charset="0"/>
                <a:ea typeface="Calibri" pitchFamily="34" charset="-122"/>
                <a:cs typeface="Calibri" pitchFamily="34" charset="-120"/>
              </a:rPr>
              <a:t>github.com/Stafa7/readmission-risk-prediction</a:t>
            </a:r>
            <a:endParaRPr lang="en-US" sz="1200" dirty="0"/>
          </a:p>
        </p:txBody>
      </p:sp>
      <p:sp>
        <p:nvSpPr>
          <p:cNvPr id="10" name="Shape 6"/>
          <p:cNvSpPr/>
          <p:nvPr/>
        </p:nvSpPr>
        <p:spPr>
          <a:xfrm>
            <a:off x="0" y="4572000"/>
            <a:ext cx="9144000" cy="571500"/>
          </a:xfrm>
          <a:prstGeom prst="rect">
            <a:avLst/>
          </a:prstGeom>
          <a:solidFill>
            <a:srgbClr val="00B4A6"/>
          </a:solidFill>
          <a:ln/>
        </p:spPr>
        <p:txBody>
          <a:bodyPr/>
          <a:lstStyle/>
          <a:p>
            <a:endParaRPr lang="en-US"/>
          </a:p>
        </p:txBody>
      </p:sp>
      <p:sp>
        <p:nvSpPr>
          <p:cNvPr id="11" name="Text 7"/>
          <p:cNvSpPr/>
          <p:nvPr/>
        </p:nvSpPr>
        <p:spPr>
          <a:xfrm>
            <a:off x="640080" y="4617720"/>
            <a:ext cx="7315200" cy="502920"/>
          </a:xfrm>
          <a:prstGeom prst="rect">
            <a:avLst/>
          </a:prstGeom>
          <a:noFill/>
          <a:ln/>
        </p:spPr>
        <p:txBody>
          <a:bodyPr wrap="square" rtlCol="0" anchor="ctr"/>
          <a:lstStyle/>
          <a:p>
            <a:pPr marL="0" indent="0" algn="ctr">
              <a:buNone/>
            </a:pPr>
            <a:r>
              <a:rPr lang="en-US" sz="1100" dirty="0">
                <a:solidFill>
                  <a:srgbClr val="0D2B2B"/>
                </a:solidFill>
                <a:latin typeface="Calibri" pitchFamily="34" charset="0"/>
                <a:ea typeface="Calibri" pitchFamily="34" charset="-122"/>
                <a:cs typeface="Calibri" pitchFamily="34" charset="-120"/>
              </a:rPr>
              <a:t>INSY 674 · Enterprise Data Science </a:t>
            </a:r>
            <a:endParaRPr lang="en-US" sz="1100" dirty="0"/>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411</TotalTime>
  <Words>2594</Words>
  <Application>Microsoft Macintosh PowerPoint</Application>
  <PresentationFormat>On-screen Show (16:9)</PresentationFormat>
  <Paragraphs>391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Readmission Risk Prediction</dc:title>
  <dc:subject>PptxGenJS Presentation</dc:subject>
  <dc:creator>Feroz Khan, Matthieu Lafont, Henry Wolcott, Mustafa Yousaf</dc:creator>
  <cp:lastModifiedBy>Feroz Khan</cp:lastModifiedBy>
  <cp:revision>8</cp:revision>
  <dcterms:created xsi:type="dcterms:W3CDTF">2026-02-22T18:47:14Z</dcterms:created>
  <dcterms:modified xsi:type="dcterms:W3CDTF">2026-02-27T21:27:20Z</dcterms:modified>
</cp:coreProperties>
</file>