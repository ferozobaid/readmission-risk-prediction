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3981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33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-457200"/>
            <a:ext cx="3200400" cy="3200400"/>
          </a:xfrm>
          <a:prstGeom prst="ellipse">
            <a:avLst/>
          </a:prstGeom>
          <a:solidFill>
            <a:srgbClr val="1A4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7160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Readmission Risk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30-Day Hospital Readmission for Diabetic Patients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46177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INSY 674 · Enterprise Data Science · Group Project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Team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1280160" cy="1280160"/>
          </a:xfrm>
          <a:prstGeom prst="ellipse">
            <a:avLst/>
          </a:prstGeom>
          <a:solidFill>
            <a:srgbClr val="133D3D"/>
          </a:solidFill>
          <a:ln w="254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9659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Feroz Khan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063240" y="1645920"/>
            <a:ext cx="1280160" cy="1280160"/>
          </a:xfrm>
          <a:prstGeom prst="ellipse">
            <a:avLst/>
          </a:prstGeom>
          <a:solidFill>
            <a:srgbClr val="133D3D"/>
          </a:solidFill>
          <a:ln w="254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965960"/>
            <a:ext cx="640080" cy="640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8892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Matthieu Lafont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212080" y="1645920"/>
            <a:ext cx="1280160" cy="1280160"/>
          </a:xfrm>
          <a:prstGeom prst="ellipse">
            <a:avLst/>
          </a:prstGeom>
          <a:solidFill>
            <a:srgbClr val="133D3D"/>
          </a:solidFill>
          <a:ln w="254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96596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3776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Henry Wolcott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7360920" y="1645920"/>
            <a:ext cx="1280160" cy="1280160"/>
          </a:xfrm>
          <a:prstGeom prst="ellipse">
            <a:avLst/>
          </a:prstGeom>
          <a:solidFill>
            <a:srgbClr val="133D3D"/>
          </a:solidFill>
          <a:ln w="254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965960"/>
            <a:ext cx="640080" cy="6400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8660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Yousaf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solidFill>
            <a:srgbClr val="133D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69080"/>
            <a:ext cx="411480" cy="4114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63040" y="39319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github.com/Stafa7/readmission-risk-prediction</a:t>
            </a:r>
            <a:endParaRPr lang="en-US" sz="1400" dirty="0"/>
          </a:p>
        </p:txBody>
      </p:sp>
      <p:pic>
        <p:nvPicPr>
          <p:cNvPr id="18" name="Picture 2" descr="Profile image">
            <a:extLst>
              <a:ext uri="{FF2B5EF4-FFF2-40B4-BE49-F238E27FC236}">
                <a16:creationId xmlns:a16="http://schemas.microsoft.com/office/drawing/2014/main" id="{D6DA089D-F246-2AD2-61B9-34B9D4E73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45920"/>
            <a:ext cx="1280160" cy="128016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Profile image">
            <a:extLst>
              <a:ext uri="{FF2B5EF4-FFF2-40B4-BE49-F238E27FC236}">
                <a16:creationId xmlns:a16="http://schemas.microsoft.com/office/drawing/2014/main" id="{7DDA6172-DFB3-2EB1-845D-35772DF45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240" y="1645920"/>
            <a:ext cx="1280160" cy="128016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Profile image">
            <a:extLst>
              <a:ext uri="{FF2B5EF4-FFF2-40B4-BE49-F238E27FC236}">
                <a16:creationId xmlns:a16="http://schemas.microsoft.com/office/drawing/2014/main" id="{B7DAFB65-68C4-FAB2-83DA-2E67AF5EF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920" y="1645920"/>
            <a:ext cx="1280160" cy="128016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8" descr="Profile image">
            <a:extLst>
              <a:ext uri="{FF2B5EF4-FFF2-40B4-BE49-F238E27FC236}">
                <a16:creationId xmlns:a16="http://schemas.microsoft.com/office/drawing/2014/main" id="{56EA9C04-1A80-66E6-2E82-DFF950A63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080" y="1645920"/>
            <a:ext cx="1280160" cy="128016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Hospital Readmission Matters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286000" cy="2286000"/>
          </a:xfrm>
          <a:prstGeom prst="rect">
            <a:avLst/>
          </a:prstGeom>
          <a:solidFill>
            <a:srgbClr val="0D2B2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B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$26B+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of avoidable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readmissions in the U.S.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54864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54864" cy="68580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20440" y="1389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20440" y="16642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avoidable 30-day readmissions and allocate follow-up resources efficiently.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2194560"/>
            <a:ext cx="54864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2194560"/>
            <a:ext cx="54864" cy="68580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0440" y="22128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Goal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24871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PoV pipeline that predicts readmission risk with measurable lift over a heuristic baseline.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3017520"/>
            <a:ext cx="54864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91840" y="3017520"/>
            <a:ext cx="54864" cy="68580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20440" y="3035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Resources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33101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Transition-of-care nurses, social workers, and follow-up capacity are finite. Targeting matters.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81381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69080"/>
            <a:ext cx="365760" cy="3657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8016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280160" y="42976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routinely available encounter-level data, we can predict 30-day readmission risk better than simple heuristics, with interpretable explanations suitable for operational adoption.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130-US Hospitals (1999–2008) · UCI Repository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101,766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146304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4320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84632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Hospitals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146304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4944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yrs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4944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8803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Definition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3832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Readmitted ≤ 30 days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Not readmitted ≤ 30 days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leakage removal: 99,343 rows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 positive rate (heavily imbalanced)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 Groups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3832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</a:t>
            </a:r>
            <a:r>
              <a:rPr lang="en-US" sz="11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race (for auditing)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Utilization: </a:t>
            </a:r>
            <a:r>
              <a:rPr lang="en-US" sz="11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labs, meds, OP/ER/IP visit counts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Encounter: </a:t>
            </a:r>
            <a:r>
              <a:rPr lang="en-US" sz="11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type, discharge, LOS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Clinical: </a:t>
            </a:r>
            <a:r>
              <a:rPr lang="en-US" sz="11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ICD-9 groups, A1C flag, med changes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663440"/>
            <a:ext cx="8138160" cy="320040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681728"/>
            <a:ext cx="228600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09728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Only ~11% positive — PR-AUC matters more than accuracy.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" y="1371600"/>
            <a:ext cx="1097280" cy="1463040"/>
          </a:xfrm>
          <a:prstGeom prst="rect">
            <a:avLst/>
          </a:prstGeom>
          <a:solidFill>
            <a:srgbClr val="0D4F4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46304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Leakage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371600" y="17830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554480" y="1371600"/>
            <a:ext cx="1097280" cy="1463040"/>
          </a:xfrm>
          <a:prstGeom prst="rect">
            <a:avLst/>
          </a:prstGeom>
          <a:solidFill>
            <a:srgbClr val="0E606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54480" y="146304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(ICD-9, meds)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606040" y="17830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88920" y="1371600"/>
            <a:ext cx="1097280" cy="1463040"/>
          </a:xfrm>
          <a:prstGeom prst="rect">
            <a:avLst/>
          </a:prstGeom>
          <a:solidFill>
            <a:srgbClr val="0F707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88920" y="146304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(MI, PCA)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0" y="17830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023360" y="1371600"/>
            <a:ext cx="1097280" cy="1463040"/>
          </a:xfrm>
          <a:prstGeom prst="rect">
            <a:avLst/>
          </a:prstGeom>
          <a:solidFill>
            <a:srgbClr val="10808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23360" y="146304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74920" y="17830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257800" y="1371600"/>
            <a:ext cx="1097280" cy="1463040"/>
          </a:xfrm>
          <a:prstGeom prst="rect">
            <a:avLst/>
          </a:prstGeom>
          <a:solidFill>
            <a:srgbClr val="11909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57800" y="146304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Models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(LR, RF, XGB,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LGBM, Stack)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09360" y="17830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92240" y="1371600"/>
            <a:ext cx="1097280" cy="1463040"/>
          </a:xfrm>
          <a:prstGeom prst="rect">
            <a:avLst/>
          </a:prstGeom>
          <a:solidFill>
            <a:srgbClr val="12A0A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92240" y="146304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SHAP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543800" y="17830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726680" y="1371600"/>
            <a:ext cx="1097280" cy="1463040"/>
          </a:xfrm>
          <a:prstGeom prst="rect">
            <a:avLst/>
          </a:prstGeom>
          <a:solidFill>
            <a:srgbClr val="13B0B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26680" y="146304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Concepts Applied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3657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11680" y="36576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DS lifecycle, best practices, patient-level splits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0050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11680" y="400507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(ICD-9 grouping, polynomial &amp; derived features), MI, PCA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35254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IV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11680" y="435254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Classification: LR, RF, XGBoost, LightGBM, Stacking Ensemble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70001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V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011680" y="4700016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for dimensionality reduction and exploration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 &amp; Selection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4864" cy="64008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ICD-9 Grouping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raw codes → 18 clinical categories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54864" cy="64008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039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Aggregation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med columns → active count + change indicators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54864" cy="64008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Features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total_visits, high_utilizer, many_meds, poly_visits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54864" cy="64008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593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for categoricals, ordinal for age bands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Selection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20640" y="15087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Zero-variance removal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filtering (|r| &gt; 0.85)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 scoring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2D visualization</a:t>
            </a:r>
            <a:endParaRPr lang="en-US" sz="12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017520"/>
            <a:ext cx="3749040" cy="192024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 Approach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producing risk probabilities, risk tiers, and a top-K outreach list.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554480" cy="2011680"/>
          </a:xfrm>
          <a:prstGeom prst="rect">
            <a:avLst/>
          </a:prstGeom>
          <a:solidFill>
            <a:srgbClr val="5A7A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stable,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4560" y="1463040"/>
            <a:ext cx="1554480" cy="2011680"/>
          </a:xfrm>
          <a:prstGeom prst="rect">
            <a:avLst/>
          </a:prstGeom>
          <a:solidFill>
            <a:srgbClr val="3A6A6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94560" y="1554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94560" y="18745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94560" y="26060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nonlinearities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31920" y="1463040"/>
            <a:ext cx="1554480" cy="2011680"/>
          </a:xfrm>
          <a:prstGeom prst="rect">
            <a:avLst/>
          </a:prstGeom>
          <a:solidFill>
            <a:srgbClr val="0D4F4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31920" y="1554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31920" y="18745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26060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tabular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1463040"/>
            <a:ext cx="1554480" cy="2011680"/>
          </a:xfrm>
          <a:prstGeom prst="rect">
            <a:avLst/>
          </a:prstGeom>
          <a:solidFill>
            <a:srgbClr val="0D4F4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0" y="1554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0" y="18745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LightGBM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26060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gradient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06640" y="1463040"/>
            <a:ext cx="1554480" cy="2011680"/>
          </a:xfrm>
          <a:prstGeom prst="rect">
            <a:avLst/>
          </a:prstGeom>
          <a:solidFill>
            <a:srgbClr val="0D353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06640" y="1554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06640" y="18745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06640" y="26060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Selection Criteria</a:t>
            </a:r>
            <a:endParaRPr lang="en-US" sz="14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78808"/>
            <a:ext cx="182880" cy="1828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1440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+ PR-AUC</a:t>
            </a:r>
            <a:endParaRPr lang="en-US" sz="11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178808"/>
            <a:ext cx="182880" cy="1828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74904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Recall/Precision</a:t>
            </a:r>
            <a:endParaRPr lang="en-US" sz="11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178808"/>
            <a:ext cx="182880" cy="1828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58368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(Brier)</a:t>
            </a:r>
            <a:endParaRPr lang="en-US" sz="11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44568"/>
            <a:ext cx="182880" cy="1828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1440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Stability</a:t>
            </a:r>
            <a:endParaRPr lang="en-US" sz="11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544568"/>
            <a:ext cx="182880" cy="18288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74904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</a:t>
            </a:r>
            <a:endParaRPr lang="en-US" sz="11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544568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58368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5-Fold Cross-Validation Results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95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StratifiedGroupKFold — no patient leakage between folds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656465"/>
              </p:ext>
            </p:extLst>
          </p:nvPr>
        </p:nvGraphicFramePr>
        <p:xfrm>
          <a:off x="640080" y="1828800"/>
          <a:ext cx="7863840" cy="1310640"/>
        </p:xfrm>
        <a:graphic>
          <a:graphicData uri="http://schemas.openxmlformats.org/drawingml/2006/table">
            <a:tbl>
              <a:tblPr/>
              <a:tblGrid>
                <a:gridCol w="2476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2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0.2113 ± 0.015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0.6614 ± 0.009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0.2264 ± 0.002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0.2114 ± 0.016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0.6631 ± 0.011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0.2164 ± 0.002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0.2205 ± 0.013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0.6583 ± 0.009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0.1946 ± 0.002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0.2255 ± 0.013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0.6643 ± 0.010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0.2036 ± 0.002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47472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1188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347472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leads on PR-AUC (0.2255) and ROC-AUC (0.6643) with stable folds. XGBoost has the best calibration (Brier: 0.1946).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Set Model Comparison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7680960" cy="17678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Lift@10%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Heuristic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2.21x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2.30x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2.27x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2.54x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2.60x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2.45x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08960"/>
            <a:ext cx="8229600" cy="192024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 &amp; Precision-Recall Curves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859536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434340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22960" y="43434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achieves the best PR-AUC (0.2373), which is critical under 11% class imbalance. ROC-AUC of 0.6731 confirms meaningful discrimination above baseline.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Probability Calibration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8595360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4114800"/>
            <a:ext cx="3200400" cy="731520"/>
          </a:xfrm>
          <a:prstGeom prst="rect">
            <a:avLst/>
          </a:prstGeom>
          <a:solidFill>
            <a:srgbClr val="FF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2296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Score: 0.2128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23360" y="4206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0" y="4114800"/>
            <a:ext cx="3200400" cy="731520"/>
          </a:xfrm>
          <a:prstGeom prst="rect">
            <a:avLst/>
          </a:prstGeom>
          <a:solidFill>
            <a:srgbClr val="F0FF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5488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8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(Isotonic)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Score: 0.0915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Explainability — SHAP Analysis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60120"/>
            <a:ext cx="4389120" cy="36576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60120"/>
            <a:ext cx="4389120" cy="3657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feature importance (left: beeswarm, right: mean |SHAP|)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Per-Patient Explanations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914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188720"/>
            <a:ext cx="292608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0" y="914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188720"/>
            <a:ext cx="2926080" cy="3474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26480" y="914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188720"/>
            <a:ext cx="2926080" cy="34747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008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waterfall plots show per-patient feature contributions — enabling clinicians to understand why a patient was flagged.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Fairness Audit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5029200" cy="274320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914400"/>
          <a:ext cx="3383280" cy="14630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Race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Caucasian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18,510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Hispanic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solidFill>
            <a:srgbClr val="F0FF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69080"/>
            <a:ext cx="320040" cy="3200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280160" y="393192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subgroup ROC-AUC gap: −0.029 ✓ — No significant fairness concerns detected. Model performance is consistent across racial subgroups.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Outputs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12344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Probability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 score for each patient at discharge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47472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2344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1188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61188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based on percentile thresholds (15th, 85th)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30936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12344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4652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Outreach List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44652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list for care-management with SHAP explanations per patient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926080"/>
            <a:ext cx="4572000" cy="21031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212080" y="2926080"/>
            <a:ext cx="36576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310896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94960" y="3611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5394960" y="3977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contacting the top 10% of patients by risk score, we capture 26% of all 30-day readmissions — a 2.6x lift over random selection.</a:t>
            </a:r>
            <a:endParaRPr lang="en-US" sz="1150" dirty="0"/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at Top-10% Threshold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80160"/>
            <a:ext cx="457200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73541" y="128016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156421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Report (top 10%)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212080" y="15544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(readmitted): </a:t>
            </a:r>
            <a:r>
              <a:rPr lang="en-US" sz="1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(readmitted): </a:t>
            </a:r>
            <a:r>
              <a:rPr lang="en-US" sz="1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accuracy: </a:t>
            </a:r>
            <a:r>
              <a:rPr lang="en-US" sz="1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top-10% threshold, nearly 1 in 3 flagged patients is a true readmission — meaningful for targeted outreach.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solidFill>
            <a:srgbClr val="133D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90472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3716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is the winning model — best PR-AUC (0.237) with strong operational lift (2.6x at top 10%)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7863840" cy="548640"/>
          </a:xfrm>
          <a:prstGeom prst="rect">
            <a:avLst/>
          </a:prstGeom>
          <a:solidFill>
            <a:srgbClr val="133D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76272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0574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 calibration reduced Brier score from 0.213 to 0.092 — risk scores are now actionable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solidFill>
            <a:srgbClr val="133D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862072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27432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provides global and per-patient explanations — clinicians can see why each patient was flagged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640080" y="3429000"/>
            <a:ext cx="7863840" cy="548640"/>
          </a:xfrm>
          <a:prstGeom prst="rect">
            <a:avLst/>
          </a:prstGeom>
          <a:solidFill>
            <a:srgbClr val="133D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47872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34290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 shows no significant subgroup disparities (max gap: −0.03 ROC-AUC)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solidFill>
            <a:srgbClr val="133D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33672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80160" y="41148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grouped split prevents data leakage — results reflect real-world deployment</a:t>
            </a:r>
            <a:endParaRPr lang="en-US" sz="1250" dirty="0"/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Next Steps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783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from 1999–2008 — clinical practices have evolved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2316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2377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~11% positive rate limits absolute precision at any threshold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1752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2971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weight (97%) and payer code — potential signals lost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11880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840" y="35661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validation on a separate hospital system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6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828800"/>
            <a:ext cx="228600" cy="228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212080" y="1783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(Bayesian optimization)</a:t>
            </a:r>
            <a:endParaRPr lang="en-US" sz="11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423160"/>
            <a:ext cx="228600" cy="2286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212080" y="2377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on a different hospital dataset</a:t>
            </a:r>
            <a:endParaRPr lang="en-US" sz="11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017520"/>
            <a:ext cx="228600" cy="2286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212080" y="2971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integration with EHR workflow</a:t>
            </a:r>
            <a:endParaRPr lang="en-US" sz="11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611880"/>
            <a:ext cx="228600" cy="22860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212080" y="35661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monitoring &amp; drift detection in production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33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-457200"/>
            <a:ext cx="3200400" cy="3200400"/>
          </a:xfrm>
          <a:prstGeom prst="ellipse">
            <a:avLst/>
          </a:prstGeom>
          <a:solidFill>
            <a:srgbClr val="1A4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630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4008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Feroz Khan  ·  Matthieu Lafont  ·  Henry Wolcott  ·  Mustafa Yousaf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148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github.com/Stafa7/readmission-risk-prediction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40080" y="4617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INSY 674 · Enterprise Data Science · February 2026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1096</Words>
  <Application>Microsoft Macintosh PowerPoint</Application>
  <PresentationFormat>On-screen Show (16:9)</PresentationFormat>
  <Paragraphs>291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Readmission Risk Prediction</dc:title>
  <dc:subject>PptxGenJS Presentation</dc:subject>
  <dc:creator>Feroz Khan, Matthieu Lafont, Henry Wolcott, Mustafa Yousaf</dc:creator>
  <cp:lastModifiedBy>Feroz Khan</cp:lastModifiedBy>
  <cp:revision>3</cp:revision>
  <dcterms:created xsi:type="dcterms:W3CDTF">2026-02-22T18:47:14Z</dcterms:created>
  <dcterms:modified xsi:type="dcterms:W3CDTF">2026-02-25T16:44:49Z</dcterms:modified>
</cp:coreProperties>
</file>